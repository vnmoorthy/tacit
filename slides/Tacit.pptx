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[name], and this is Tacit. The idea in one line: when an expert is about to leave your company, a voice AI interviews them before they go, and turns what's in their head into a cited knowledge base their successor can actually talk to. We built it today, in the Voice AI track, on Boson AI's Higgs speech models and Nebius Token Factory. It's open source, MIT licensed, and live right now at the link on this slide. Let me show you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expert who leaves takes a library with them. Ten thousand Americans turn sixty-five every single day. Fortune 500 companies lose around thirty-one and a half billion dollars a year to poor knowledge sharing. And by one estimate, forty-two percent of the skills a job needs live only in the head of the person doing it. The standard fix is: write the documentation. Experts don't. Nobody writes the doc in their last two weeks. But they will happily talk for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insight is simple: make the talking the documentation. Tacit runs a closed loop. A voice agent interviews the expert, one question at a time, and follows the thread the way a good journalist would. Every answer is distilled into typed, cited knowledge atoms: procedures, rules, gotchas, contacts, decisions, risks. The successor then asks the expert's twin, which answers in the expert's own words. And anything the twin can't answer gets queued, and becomes the first question of the next interview. The loop closes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interview room, and it's what we'll show live. The expert just talks. Boson's Higgs Realtime handles speech-to-speech at around seven hundred milliseconds, and it handles interruptions, so it feels like a conversation, not a form. On the right, knowledge atoms appear while she's still talking, and the coverage map fills in live, steering the interviewer toward what's missing. And if the venue Wi-Fi hates us, it falls back to browser voice, or to typing. The demo can't die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successor's side. Jordan asks the twin what to do when a payroll file is rejected, and gets a grounded answer where every claim carries a citation back to Maria's actual words. Under the hood it's hybrid retrieval: BM25 plus Nebius embeddings, fused with reciprocal rank fusion. If confidence is low, Tacit doesn't guess; it queues the question for Maria's next session. And the answer is spoken in Maria's cloned voice, from a short reference clip captured during the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how it works. One isomorphic TypeScript engine, three ways in: browser voice, Higgs speech-to-speech, or a phone call through Twilio and LiveKit. A small Hono API on Node with SQLite, no native dependencies. The core engine plans domains, interviews, extracts atoms, tracks coverage and retrieves. Two brains: an LLM brain on any provider, and an offline heuristic brain so every button works with zero keys. On Nebius we run Qwen3-30B for turns and Qwen3-Embedding-8B for retrieval. Fourteen tests, one Docker image,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voice, and why now? Three things. First, speech-to-speech got real: Higgs Realtime runs at around seven hundred milliseconds, covers over a hundred languages, and is roughly ninety percent cheaper than the incumbents. Interruption handling is what makes an interview feel human. Second, open models like Qwen3 reliably turn messy speech into typed JSON in about a second, for cents a turn. Third, Peak 65 is here: through 2027, about four million Americans turn sixty-five every year, the largest retirement wave in 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wedge is HR offboarding: one capture per departing expert. We're proposing fifteen hundred dollars per capture, or sixty thousand a year for the enterprise platform: unlimited captures, SSO, export to Confluence, Notion or SharePoint, and phone interviews. The buyer is the CHRO or head of L&amp;D, with COOs and risk teams pulling. We reach them through HRIS marketplaces like Workday and SuccessFactors, and through Big-4 knowledge-transfer practices. Land with a five-expert pilot in thirty days, then expand to every offboarding.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estimates, so take them as such. Knowledge-management software is a thirty-billion-plus market, growing double digits. Our serviceable slice: roughly four hundred thousand critical-expert departures a year in US enterprises, about ten percent of four million retirements, times fifteen hundred dollars, is around six hundred million a year in the US alone. By year three, two thousand enterprise captures a month is thirty-six million in ARR. And every one of those departures is a purchase trigger with a hard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in one day, working end to end. Live demo at that URL, open source on GitHub, and it runs with zero keys or with Boson and Nebius keys. Voice cloning and phone interviews work today, and two sample captures, a payroll lead and an SRE, hold thirty-eight atoms. Next thirty days: three design partners, a bank, a utility and a manufacturer, an inbound phone line, and Confluence export. Our ask: introductions to CHROs and COOs facing retirement waves. Come talk to Maria's twin at our table.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A17"/>
        </a:solidFill>
      </p:bgPr>
    </p:bg>
    <p:spTree>
      <p:nvGrpSpPr>
        <p:cNvPr id="1" name=""/>
        <p:cNvGrpSpPr/>
        <p:nvPr/>
      </p:nvGrpSpPr>
      <p:grpSpPr>
        <a:xfrm>
          <a:off x="0" y="0"/>
          <a:ext cx="0" cy="0"/>
          <a:chOff x="0" y="0"/>
          <a:chExt cx="0" cy="0"/>
        </a:xfrm>
      </p:grpSpPr>
      <p:pic>
        <p:nvPicPr>
          <p:cNvPr id="2" name="Image 0" descr="/private/tmp/claude-501/-Users-moorthy-Downloads-Projects-Build-an-AI-Startup-in-One-Day/fc1451a5-f17c-4b0e-9586-ab905c32ce50/scratchpad/deck/hero-orb.png">    </p:cNvPr>
          <p:cNvPicPr>
            <a:picLocks noChangeAspect="1"/>
          </p:cNvPicPr>
          <p:nvPr/>
        </p:nvPicPr>
        <p:blipFill>
          <a:blip r:embed="rId1"/>
          <a:stretch>
            <a:fillRect/>
          </a:stretch>
        </p:blipFill>
        <p:spPr>
          <a:xfrm>
            <a:off x="6568135" y="632732"/>
            <a:ext cx="5394960" cy="5683976"/>
          </a:xfrm>
          <a:prstGeom prst="rect">
            <a:avLst/>
          </a:prstGeom>
        </p:spPr>
      </p:pic>
      <p:sp>
        <p:nvSpPr>
          <p:cNvPr id="3" name="Text 0"/>
          <p:cNvSpPr txBox="1"/>
          <p:nvPr/>
        </p:nvSpPr>
        <p:spPr>
          <a:xfrm>
            <a:off x="685800" y="1417320"/>
            <a:ext cx="2487168" cy="274320"/>
          </a:xfrm>
          <a:prstGeom prst="roundRect">
            <a:avLst>
              <a:gd name="adj" fmla="val 50000"/>
            </a:avLst>
          </a:prstGeom>
          <a:solidFill>
            <a:srgbClr val="2E2924"/>
          </a:solidFill>
          <a:ln/>
        </p:spPr>
        <p:txBody>
          <a:bodyPr wrap="square" lIns="0" tIns="0" rIns="0" bIns="0" rtlCol="0" anchor="ctr"/>
          <a:lstStyle/>
          <a:p>
            <a:pPr algn="ctr" indent="0" marL="0">
              <a:buNone/>
            </a:pPr>
            <a:r>
              <a:rPr lang="en-US" sz="900" b="1" spc="150" kern="0" dirty="0">
                <a:solidFill>
                  <a:srgbClr val="E8B36B"/>
                </a:solidFill>
                <a:latin typeface="Arial" pitchFamily="34" charset="0"/>
                <a:ea typeface="Arial" pitchFamily="34" charset="-122"/>
                <a:cs typeface="Arial" pitchFamily="34" charset="-120"/>
              </a:rPr>
              <a:t>OSS4AI · VOICE AI TRACK</a:t>
            </a:r>
            <a:endParaRPr lang="en-US" sz="900" dirty="0"/>
          </a:p>
        </p:txBody>
      </p:sp>
      <p:sp>
        <p:nvSpPr>
          <p:cNvPr id="4" name="Text 1"/>
          <p:cNvSpPr txBox="1"/>
          <p:nvPr/>
        </p:nvSpPr>
        <p:spPr>
          <a:xfrm>
            <a:off x="658368" y="1783080"/>
            <a:ext cx="5943600" cy="1600200"/>
          </a:xfrm>
          <a:prstGeom prst="rect">
            <a:avLst/>
          </a:prstGeom>
          <a:noFill/>
          <a:ln/>
        </p:spPr>
        <p:txBody>
          <a:bodyPr wrap="square" lIns="0" tIns="0" rIns="0" bIns="0" rtlCol="0" anchor="t"/>
          <a:lstStyle/>
          <a:p>
            <a:pPr algn="l" indent="0" marL="0">
              <a:buNone/>
            </a:pPr>
            <a:r>
              <a:rPr lang="en-US" sz="11200" dirty="0">
                <a:solidFill>
                  <a:srgbClr val="F6F1E9"/>
                </a:solidFill>
                <a:latin typeface="Georgia" pitchFamily="34" charset="0"/>
                <a:ea typeface="Georgia" pitchFamily="34" charset="-122"/>
                <a:cs typeface="Georgia" pitchFamily="34" charset="-120"/>
              </a:rPr>
              <a:t>Tacit</a:t>
            </a:r>
            <a:endParaRPr lang="en-US" sz="11200" dirty="0"/>
          </a:p>
        </p:txBody>
      </p:sp>
      <p:sp>
        <p:nvSpPr>
          <p:cNvPr id="5" name="Text 2"/>
          <p:cNvSpPr txBox="1"/>
          <p:nvPr/>
        </p:nvSpPr>
        <p:spPr>
          <a:xfrm>
            <a:off x="685800" y="3429000"/>
            <a:ext cx="6400800" cy="914400"/>
          </a:xfrm>
          <a:prstGeom prst="rect">
            <a:avLst/>
          </a:prstGeom>
          <a:noFill/>
          <a:ln/>
        </p:spPr>
        <p:txBody>
          <a:bodyPr wrap="square" lIns="0" tIns="0" rIns="0" bIns="0" rtlCol="0" anchor="t"/>
          <a:lstStyle/>
          <a:p>
            <a:pPr indent="0" marL="0">
              <a:lnSpc>
                <a:spcPct val="110000"/>
              </a:lnSpc>
              <a:buNone/>
            </a:pPr>
            <a:r>
              <a:rPr lang="en-US" sz="2600" i="1" dirty="0">
                <a:solidFill>
                  <a:srgbClr val="E8B36B"/>
                </a:solidFill>
                <a:latin typeface="Georgia" pitchFamily="34" charset="0"/>
                <a:ea typeface="Georgia" pitchFamily="34" charset="-122"/>
                <a:cs typeface="Georgia" pitchFamily="34" charset="-120"/>
              </a:rPr>
              <a:t>Institutional memory,</a:t>
            </a:r>
            <a:endParaRPr lang="en-US" sz="2600" dirty="0"/>
          </a:p>
          <a:p>
            <a:pPr indent="0" marL="0">
              <a:lnSpc>
                <a:spcPct val="110000"/>
              </a:lnSpc>
              <a:buNone/>
            </a:pPr>
            <a:r>
              <a:rPr lang="en-US" sz="2600" i="1" dirty="0">
                <a:solidFill>
                  <a:srgbClr val="E8B36B"/>
                </a:solidFill>
                <a:latin typeface="Georgia" pitchFamily="34" charset="0"/>
                <a:ea typeface="Georgia" pitchFamily="34" charset="-122"/>
                <a:cs typeface="Georgia" pitchFamily="34" charset="-120"/>
              </a:rPr>
              <a:t>captured by conversation.</a:t>
            </a:r>
            <a:endParaRPr lang="en-US" sz="2600" dirty="0"/>
          </a:p>
        </p:txBody>
      </p:sp>
      <p:sp>
        <p:nvSpPr>
          <p:cNvPr id="6" name="Text 3"/>
          <p:cNvSpPr txBox="1"/>
          <p:nvPr/>
        </p:nvSpPr>
        <p:spPr>
          <a:xfrm>
            <a:off x="685800" y="4480560"/>
            <a:ext cx="5669280" cy="731520"/>
          </a:xfrm>
          <a:prstGeom prst="rect">
            <a:avLst/>
          </a:prstGeom>
          <a:noFill/>
          <a:ln/>
        </p:spPr>
        <p:txBody>
          <a:bodyPr wrap="square" lIns="0" tIns="0" rIns="0" bIns="0" rtlCol="0" anchor="t"/>
          <a:lstStyle/>
          <a:p>
            <a:pPr algn="l" indent="0" marL="0">
              <a:lnSpc>
                <a:spcPct val="125000"/>
              </a:lnSpc>
              <a:buNone/>
            </a:pPr>
            <a:r>
              <a:rPr lang="en-US" sz="1500" dirty="0">
                <a:solidFill>
                  <a:srgbClr val="D9D2C6"/>
                </a:solidFill>
                <a:latin typeface="Arial" pitchFamily="34" charset="0"/>
                <a:ea typeface="Arial" pitchFamily="34" charset="-122"/>
                <a:cs typeface="Arial" pitchFamily="34" charset="-120"/>
              </a:rPr>
              <a:t>A voice AI that interviews your departing experts before their knowledge walks out the door.</a:t>
            </a:r>
            <a:endParaRPr lang="en-US" sz="1500" dirty="0"/>
          </a:p>
        </p:txBody>
      </p:sp>
      <p:sp>
        <p:nvSpPr>
          <p:cNvPr id="7" name="Text 4"/>
          <p:cNvSpPr txBox="1"/>
          <p:nvPr/>
        </p:nvSpPr>
        <p:spPr>
          <a:xfrm>
            <a:off x="685800" y="6263640"/>
            <a:ext cx="7772400" cy="274320"/>
          </a:xfrm>
          <a:prstGeom prst="rect">
            <a:avLst/>
          </a:prstGeom>
          <a:noFill/>
          <a:ln/>
        </p:spPr>
        <p:txBody>
          <a:bodyPr wrap="square" lIns="0" tIns="0" rIns="0" bIns="0" rtlCol="0" anchor="ctr"/>
          <a:lstStyle/>
          <a:p>
            <a:pPr algn="l" indent="0" marL="0">
              <a:buNone/>
            </a:pPr>
            <a:r>
              <a:rPr lang="en-US" sz="1050" dirty="0">
                <a:solidFill>
                  <a:srgbClr val="8F877B"/>
                </a:solidFill>
                <a:latin typeface="Arial" pitchFamily="34" charset="0"/>
                <a:ea typeface="Arial" pitchFamily="34" charset="-122"/>
                <a:cs typeface="Arial" pitchFamily="34" charset="-120"/>
              </a:rPr>
              <a:t>OSS4AI · Build an AI Startup in One Day · Voice AI track · github.com/vnmoorthy/tacit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138988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THE PROBLEM</a:t>
            </a:r>
            <a:endParaRPr lang="en-US" sz="900" dirty="0"/>
          </a:p>
        </p:txBody>
      </p:sp>
      <p:sp>
        <p:nvSpPr>
          <p:cNvPr id="3" name="Text 1"/>
          <p:cNvSpPr txBox="1"/>
          <p:nvPr/>
        </p:nvSpPr>
        <p:spPr>
          <a:xfrm>
            <a:off x="594360" y="868680"/>
            <a:ext cx="11002975" cy="1234440"/>
          </a:xfrm>
          <a:prstGeom prst="rect">
            <a:avLst/>
          </a:prstGeom>
          <a:noFill/>
          <a:ln/>
        </p:spPr>
        <p:txBody>
          <a:bodyPr wrap="square" lIns="0" tIns="0" rIns="0" bIns="0" rtlCol="0" anchor="t"/>
          <a:lstStyle/>
          <a:p>
            <a:pPr algn="l" indent="0" marL="0">
              <a:lnSpc>
                <a:spcPct val="105000"/>
              </a:lnSpc>
              <a:buNone/>
            </a:pPr>
            <a:r>
              <a:rPr lang="en-US" sz="4000" dirty="0">
                <a:solidFill>
                  <a:srgbClr val="1C1A17"/>
                </a:solidFill>
                <a:latin typeface="Georgia" pitchFamily="34" charset="0"/>
                <a:ea typeface="Georgia" pitchFamily="34" charset="-122"/>
                <a:cs typeface="Georgia" pitchFamily="34" charset="-120"/>
              </a:rPr>
              <a:t>Every expert who leaves</a:t>
            </a:r>
            <a:endParaRPr lang="en-US" sz="4000" dirty="0"/>
          </a:p>
          <a:p>
            <a:pPr algn="l" indent="0" marL="0">
              <a:lnSpc>
                <a:spcPct val="105000"/>
              </a:lnSpc>
              <a:buNone/>
            </a:pPr>
            <a:r>
              <a:rPr lang="en-US" sz="4000" dirty="0">
                <a:solidFill>
                  <a:srgbClr val="1C1A17"/>
                </a:solidFill>
                <a:latin typeface="Georgia" pitchFamily="34" charset="0"/>
                <a:ea typeface="Georgia" pitchFamily="34" charset="-122"/>
                <a:cs typeface="Georgia" pitchFamily="34" charset="-120"/>
              </a:rPr>
              <a:t>takes a library with them.</a:t>
            </a:r>
            <a:endParaRPr lang="en-US" sz="4000" dirty="0"/>
          </a:p>
        </p:txBody>
      </p:sp>
      <p:sp>
        <p:nvSpPr>
          <p:cNvPr id="4" name="Shape 2"/>
          <p:cNvSpPr/>
          <p:nvPr/>
        </p:nvSpPr>
        <p:spPr>
          <a:xfrm>
            <a:off x="594360" y="2377440"/>
            <a:ext cx="3454298" cy="2450592"/>
          </a:xfrm>
          <a:prstGeom prst="roundRect">
            <a:avLst>
              <a:gd name="adj" fmla="val 3731"/>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5" name="Text 3"/>
          <p:cNvSpPr txBox="1"/>
          <p:nvPr/>
        </p:nvSpPr>
        <p:spPr>
          <a:xfrm>
            <a:off x="868680" y="2606040"/>
            <a:ext cx="2905658" cy="868680"/>
          </a:xfrm>
          <a:prstGeom prst="rect">
            <a:avLst/>
          </a:prstGeom>
          <a:noFill/>
          <a:ln/>
        </p:spPr>
        <p:txBody>
          <a:bodyPr wrap="square" lIns="0" tIns="0" rIns="0" bIns="0" rtlCol="0" anchor="ctr"/>
          <a:lstStyle/>
          <a:p>
            <a:pPr algn="l" indent="0" marL="0">
              <a:buNone/>
            </a:pPr>
            <a:r>
              <a:rPr lang="en-US" sz="5600" dirty="0">
                <a:solidFill>
                  <a:srgbClr val="B8541E"/>
                </a:solidFill>
                <a:latin typeface="Georgia" pitchFamily="34" charset="0"/>
                <a:ea typeface="Georgia" pitchFamily="34" charset="-122"/>
                <a:cs typeface="Georgia" pitchFamily="34" charset="-120"/>
              </a:rPr>
              <a:t>10,000</a:t>
            </a:r>
            <a:endParaRPr lang="en-US" sz="5600" dirty="0"/>
          </a:p>
        </p:txBody>
      </p:sp>
      <p:sp>
        <p:nvSpPr>
          <p:cNvPr id="6" name="Text 4"/>
          <p:cNvSpPr txBox="1"/>
          <p:nvPr/>
        </p:nvSpPr>
        <p:spPr>
          <a:xfrm>
            <a:off x="868680" y="3547872"/>
            <a:ext cx="2905658" cy="822960"/>
          </a:xfrm>
          <a:prstGeom prst="rect">
            <a:avLst/>
          </a:prstGeom>
          <a:noFill/>
          <a:ln/>
        </p:spPr>
        <p:txBody>
          <a:bodyPr wrap="square" lIns="0" tIns="0" rIns="0" bIns="0" rtlCol="0" anchor="t"/>
          <a:lstStyle/>
          <a:p>
            <a:pPr algn="l" indent="0" marL="0">
              <a:lnSpc>
                <a:spcPct val="115000"/>
              </a:lnSpc>
              <a:buNone/>
            </a:pPr>
            <a:r>
              <a:rPr lang="en-US" sz="1400" dirty="0">
                <a:solidFill>
                  <a:srgbClr val="1C1A17"/>
                </a:solidFill>
                <a:latin typeface="Arial" pitchFamily="34" charset="0"/>
                <a:ea typeface="Arial" pitchFamily="34" charset="-122"/>
                <a:cs typeface="Arial" pitchFamily="34" charset="-120"/>
              </a:rPr>
              <a:t>Americans turn 65 every day</a:t>
            </a:r>
            <a:endParaRPr lang="en-US" sz="1400" dirty="0"/>
          </a:p>
        </p:txBody>
      </p:sp>
      <p:sp>
        <p:nvSpPr>
          <p:cNvPr id="7" name="Text 5"/>
          <p:cNvSpPr txBox="1"/>
          <p:nvPr/>
        </p:nvSpPr>
        <p:spPr>
          <a:xfrm>
            <a:off x="868680" y="4434840"/>
            <a:ext cx="2905658" cy="256032"/>
          </a:xfrm>
          <a:prstGeom prst="rect">
            <a:avLst/>
          </a:prstGeom>
          <a:noFill/>
          <a:ln/>
        </p:spPr>
        <p:txBody>
          <a:bodyPr wrap="square" lIns="0" tIns="0" rIns="0" bIns="0" rtlCol="0" anchor="t"/>
          <a:lstStyle/>
          <a:p>
            <a:pPr algn="l" indent="0" marL="0">
              <a:buNone/>
            </a:pPr>
            <a:r>
              <a:rPr lang="en-US" sz="1050" dirty="0">
                <a:solidFill>
                  <a:srgbClr val="8A8377"/>
                </a:solidFill>
                <a:latin typeface="Arial" pitchFamily="34" charset="0"/>
                <a:ea typeface="Arial" pitchFamily="34" charset="-122"/>
                <a:cs typeface="Arial" pitchFamily="34" charset="-120"/>
              </a:rPr>
              <a:t>Source: Pew Research</a:t>
            </a:r>
            <a:endParaRPr lang="en-US" sz="1050" dirty="0"/>
          </a:p>
        </p:txBody>
      </p:sp>
      <p:sp>
        <p:nvSpPr>
          <p:cNvPr id="8" name="Shape 6"/>
          <p:cNvSpPr/>
          <p:nvPr/>
        </p:nvSpPr>
        <p:spPr>
          <a:xfrm>
            <a:off x="4368698" y="2377440"/>
            <a:ext cx="3454298" cy="2450592"/>
          </a:xfrm>
          <a:prstGeom prst="roundRect">
            <a:avLst>
              <a:gd name="adj" fmla="val 3731"/>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9" name="Text 7"/>
          <p:cNvSpPr txBox="1"/>
          <p:nvPr/>
        </p:nvSpPr>
        <p:spPr>
          <a:xfrm>
            <a:off x="4643018" y="2606040"/>
            <a:ext cx="2905658" cy="868680"/>
          </a:xfrm>
          <a:prstGeom prst="rect">
            <a:avLst/>
          </a:prstGeom>
          <a:noFill/>
          <a:ln/>
        </p:spPr>
        <p:txBody>
          <a:bodyPr wrap="square" lIns="0" tIns="0" rIns="0" bIns="0" rtlCol="0" anchor="ctr"/>
          <a:lstStyle/>
          <a:p>
            <a:pPr algn="l" indent="0" marL="0">
              <a:buNone/>
            </a:pPr>
            <a:r>
              <a:rPr lang="en-US" sz="5600" dirty="0">
                <a:solidFill>
                  <a:srgbClr val="B8541E"/>
                </a:solidFill>
                <a:latin typeface="Georgia" pitchFamily="34" charset="0"/>
                <a:ea typeface="Georgia" pitchFamily="34" charset="-122"/>
                <a:cs typeface="Georgia" pitchFamily="34" charset="-120"/>
              </a:rPr>
              <a:t>$31.5B</a:t>
            </a:r>
            <a:endParaRPr lang="en-US" sz="5600" dirty="0"/>
          </a:p>
        </p:txBody>
      </p:sp>
      <p:sp>
        <p:nvSpPr>
          <p:cNvPr id="10" name="Text 8"/>
          <p:cNvSpPr txBox="1"/>
          <p:nvPr/>
        </p:nvSpPr>
        <p:spPr>
          <a:xfrm>
            <a:off x="4643018" y="3547872"/>
            <a:ext cx="2905658" cy="822960"/>
          </a:xfrm>
          <a:prstGeom prst="rect">
            <a:avLst/>
          </a:prstGeom>
          <a:noFill/>
          <a:ln/>
        </p:spPr>
        <p:txBody>
          <a:bodyPr wrap="square" lIns="0" tIns="0" rIns="0" bIns="0" rtlCol="0" anchor="t"/>
          <a:lstStyle/>
          <a:p>
            <a:pPr algn="l" indent="0" marL="0">
              <a:lnSpc>
                <a:spcPct val="115000"/>
              </a:lnSpc>
              <a:buNone/>
            </a:pPr>
            <a:r>
              <a:rPr lang="en-US" sz="1400" dirty="0">
                <a:solidFill>
                  <a:srgbClr val="1C1A17"/>
                </a:solidFill>
                <a:latin typeface="Arial" pitchFamily="34" charset="0"/>
                <a:ea typeface="Arial" pitchFamily="34" charset="-122"/>
                <a:cs typeface="Arial" pitchFamily="34" charset="-120"/>
              </a:rPr>
              <a:t>lost yearly by Fortune 500s to poor knowledge sharing</a:t>
            </a:r>
            <a:endParaRPr lang="en-US" sz="1400" dirty="0"/>
          </a:p>
        </p:txBody>
      </p:sp>
      <p:sp>
        <p:nvSpPr>
          <p:cNvPr id="11" name="Text 9"/>
          <p:cNvSpPr txBox="1"/>
          <p:nvPr/>
        </p:nvSpPr>
        <p:spPr>
          <a:xfrm>
            <a:off x="4643018" y="4434840"/>
            <a:ext cx="2905658" cy="256032"/>
          </a:xfrm>
          <a:prstGeom prst="rect">
            <a:avLst/>
          </a:prstGeom>
          <a:noFill/>
          <a:ln/>
        </p:spPr>
        <p:txBody>
          <a:bodyPr wrap="square" lIns="0" tIns="0" rIns="0" bIns="0" rtlCol="0" anchor="t"/>
          <a:lstStyle/>
          <a:p>
            <a:pPr algn="l" indent="0" marL="0">
              <a:buNone/>
            </a:pPr>
            <a:r>
              <a:rPr lang="en-US" sz="1050" dirty="0">
                <a:solidFill>
                  <a:srgbClr val="8A8377"/>
                </a:solidFill>
                <a:latin typeface="Arial" pitchFamily="34" charset="0"/>
                <a:ea typeface="Arial" pitchFamily="34" charset="-122"/>
                <a:cs typeface="Arial" pitchFamily="34" charset="-120"/>
              </a:rPr>
              <a:t>Source: IDC</a:t>
            </a:r>
            <a:endParaRPr lang="en-US" sz="1050" dirty="0"/>
          </a:p>
        </p:txBody>
      </p:sp>
      <p:sp>
        <p:nvSpPr>
          <p:cNvPr id="12" name="Shape 10"/>
          <p:cNvSpPr/>
          <p:nvPr/>
        </p:nvSpPr>
        <p:spPr>
          <a:xfrm>
            <a:off x="8143037" y="2377440"/>
            <a:ext cx="3454298" cy="2450592"/>
          </a:xfrm>
          <a:prstGeom prst="roundRect">
            <a:avLst>
              <a:gd name="adj" fmla="val 3731"/>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13" name="Text 11"/>
          <p:cNvSpPr txBox="1"/>
          <p:nvPr/>
        </p:nvSpPr>
        <p:spPr>
          <a:xfrm>
            <a:off x="8417357" y="2606040"/>
            <a:ext cx="2905658" cy="868680"/>
          </a:xfrm>
          <a:prstGeom prst="rect">
            <a:avLst/>
          </a:prstGeom>
          <a:noFill/>
          <a:ln/>
        </p:spPr>
        <p:txBody>
          <a:bodyPr wrap="square" lIns="0" tIns="0" rIns="0" bIns="0" rtlCol="0" anchor="ctr"/>
          <a:lstStyle/>
          <a:p>
            <a:pPr algn="l" indent="0" marL="0">
              <a:buNone/>
            </a:pPr>
            <a:r>
              <a:rPr lang="en-US" sz="5600" dirty="0">
                <a:solidFill>
                  <a:srgbClr val="B8541E"/>
                </a:solidFill>
                <a:latin typeface="Georgia" pitchFamily="34" charset="0"/>
                <a:ea typeface="Georgia" pitchFamily="34" charset="-122"/>
                <a:cs typeface="Georgia" pitchFamily="34" charset="-120"/>
              </a:rPr>
              <a:t>42%</a:t>
            </a:r>
            <a:endParaRPr lang="en-US" sz="5600" dirty="0"/>
          </a:p>
        </p:txBody>
      </p:sp>
      <p:sp>
        <p:nvSpPr>
          <p:cNvPr id="14" name="Text 12"/>
          <p:cNvSpPr txBox="1"/>
          <p:nvPr/>
        </p:nvSpPr>
        <p:spPr>
          <a:xfrm>
            <a:off x="8417357" y="3547872"/>
            <a:ext cx="2905658" cy="822960"/>
          </a:xfrm>
          <a:prstGeom prst="rect">
            <a:avLst/>
          </a:prstGeom>
          <a:noFill/>
          <a:ln/>
        </p:spPr>
        <p:txBody>
          <a:bodyPr wrap="square" lIns="0" tIns="0" rIns="0" bIns="0" rtlCol="0" anchor="t"/>
          <a:lstStyle/>
          <a:p>
            <a:pPr algn="l" indent="0" marL="0">
              <a:lnSpc>
                <a:spcPct val="115000"/>
              </a:lnSpc>
              <a:buNone/>
            </a:pPr>
            <a:r>
              <a:rPr lang="en-US" sz="1400" dirty="0">
                <a:solidFill>
                  <a:srgbClr val="1C1A17"/>
                </a:solidFill>
                <a:latin typeface="Arial" pitchFamily="34" charset="0"/>
                <a:ea typeface="Arial" pitchFamily="34" charset="-122"/>
                <a:cs typeface="Arial" pitchFamily="34" charset="-120"/>
              </a:rPr>
              <a:t>of the skills a job needs are known only by the person doing it</a:t>
            </a:r>
            <a:endParaRPr lang="en-US" sz="1400" dirty="0"/>
          </a:p>
        </p:txBody>
      </p:sp>
      <p:sp>
        <p:nvSpPr>
          <p:cNvPr id="15" name="Text 13"/>
          <p:cNvSpPr txBox="1"/>
          <p:nvPr/>
        </p:nvSpPr>
        <p:spPr>
          <a:xfrm>
            <a:off x="8417357" y="4434840"/>
            <a:ext cx="2905658" cy="256032"/>
          </a:xfrm>
          <a:prstGeom prst="rect">
            <a:avLst/>
          </a:prstGeom>
          <a:noFill/>
          <a:ln/>
        </p:spPr>
        <p:txBody>
          <a:bodyPr wrap="square" lIns="0" tIns="0" rIns="0" bIns="0" rtlCol="0" anchor="t"/>
          <a:lstStyle/>
          <a:p>
            <a:pPr algn="l" indent="0" marL="0">
              <a:buNone/>
            </a:pPr>
            <a:r>
              <a:rPr lang="en-US" sz="1050" dirty="0">
                <a:solidFill>
                  <a:srgbClr val="8A8377"/>
                </a:solidFill>
                <a:latin typeface="Arial" pitchFamily="34" charset="0"/>
                <a:ea typeface="Arial" pitchFamily="34" charset="-122"/>
                <a:cs typeface="Arial" pitchFamily="34" charset="-120"/>
              </a:rPr>
              <a:t>Source: Panopto, 2018</a:t>
            </a:r>
            <a:endParaRPr lang="en-US" sz="1050" dirty="0"/>
          </a:p>
        </p:txBody>
      </p:sp>
      <p:sp>
        <p:nvSpPr>
          <p:cNvPr id="16" name="Text 14"/>
          <p:cNvSpPr txBox="1"/>
          <p:nvPr/>
        </p:nvSpPr>
        <p:spPr>
          <a:xfrm>
            <a:off x="594360" y="5120640"/>
            <a:ext cx="11002975" cy="914400"/>
          </a:xfrm>
          <a:prstGeom prst="rect">
            <a:avLst/>
          </a:prstGeom>
          <a:noFill/>
          <a:ln/>
        </p:spPr>
        <p:txBody>
          <a:bodyPr wrap="square" lIns="0" tIns="0" rIns="0" bIns="0" rtlCol="0" anchor="t"/>
          <a:lstStyle/>
          <a:p>
            <a:pPr indent="0" marL="0">
              <a:lnSpc>
                <a:spcPct val="115000"/>
              </a:lnSpc>
              <a:buNone/>
            </a:pPr>
            <a:r>
              <a:rPr lang="en-US" sz="2200" i="1" dirty="0">
                <a:solidFill>
                  <a:srgbClr val="1C1A17"/>
                </a:solidFill>
                <a:latin typeface="Georgia" pitchFamily="34" charset="0"/>
                <a:ea typeface="Georgia" pitchFamily="34" charset="-122"/>
                <a:cs typeface="Georgia" pitchFamily="34" charset="-120"/>
              </a:rPr>
              <a:t>The fix has always been “write the documentation.” Experts don’t.</a:t>
            </a:r>
            <a:endParaRPr lang="en-US" sz="2200" dirty="0"/>
          </a:p>
          <a:p>
            <a:pPr indent="0" marL="0">
              <a:lnSpc>
                <a:spcPct val="115000"/>
              </a:lnSpc>
              <a:buNone/>
            </a:pPr>
            <a:r>
              <a:rPr lang="en-US" sz="2200" i="1" dirty="0">
                <a:solidFill>
                  <a:srgbClr val="B8541E"/>
                </a:solidFill>
                <a:latin typeface="Georgia" pitchFamily="34" charset="0"/>
                <a:ea typeface="Georgia" pitchFamily="34" charset="-122"/>
                <a:cs typeface="Georgia" pitchFamily="34" charset="-120"/>
              </a:rPr>
              <a:t>But they will talk for an hour.</a:t>
            </a:r>
            <a:endParaRPr lang="en-US" sz="2200" dirty="0"/>
          </a:p>
        </p:txBody>
      </p:sp>
      <p:sp>
        <p:nvSpPr>
          <p:cNvPr id="17" name="Text 15"/>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18" name="Text 16"/>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138988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THE INSIGHT</a:t>
            </a:r>
            <a:endParaRPr lang="en-US" sz="9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algn="l" indent="0" marL="0">
              <a:lnSpc>
                <a:spcPct val="105000"/>
              </a:lnSpc>
              <a:buNone/>
            </a:pPr>
            <a:r>
              <a:rPr lang="en-US" sz="4000" dirty="0">
                <a:solidFill>
                  <a:srgbClr val="1C1A17"/>
                </a:solidFill>
                <a:latin typeface="Georgia" pitchFamily="34" charset="0"/>
                <a:ea typeface="Georgia" pitchFamily="34" charset="-122"/>
                <a:cs typeface="Georgia" pitchFamily="34" charset="-120"/>
              </a:rPr>
              <a:t>Make the talking the documentation.</a:t>
            </a:r>
            <a:endParaRPr lang="en-US" sz="4000" dirty="0"/>
          </a:p>
        </p:txBody>
      </p:sp>
      <p:sp>
        <p:nvSpPr>
          <p:cNvPr id="4" name="Text 2"/>
          <p:cNvSpPr txBox="1"/>
          <p:nvPr/>
        </p:nvSpPr>
        <p:spPr>
          <a:xfrm>
            <a:off x="594360" y="1645920"/>
            <a:ext cx="10058400" cy="365760"/>
          </a:xfrm>
          <a:prstGeom prst="rect">
            <a:avLst/>
          </a:prstGeom>
          <a:noFill/>
          <a:ln/>
        </p:spPr>
        <p:txBody>
          <a:bodyPr wrap="square" lIns="0" tIns="0" rIns="0" bIns="0" rtlCol="0" anchor="t"/>
          <a:lstStyle/>
          <a:p>
            <a:pPr algn="l" indent="0" marL="0">
              <a:buNone/>
            </a:pPr>
            <a:r>
              <a:rPr lang="en-US" sz="1500" dirty="0">
                <a:solidFill>
                  <a:srgbClr val="8A8377"/>
                </a:solidFill>
                <a:latin typeface="Arial" pitchFamily="34" charset="0"/>
                <a:ea typeface="Arial" pitchFamily="34" charset="-122"/>
                <a:cs typeface="Arial" pitchFamily="34" charset="-120"/>
              </a:rPr>
              <a:t>A closed loop: every conversation becomes cited knowledge, and every gap becomes the next question.</a:t>
            </a:r>
            <a:endParaRPr lang="en-US" sz="1500" dirty="0"/>
          </a:p>
        </p:txBody>
      </p:sp>
      <p:sp>
        <p:nvSpPr>
          <p:cNvPr id="5" name="Shape 3"/>
          <p:cNvSpPr/>
          <p:nvPr/>
        </p:nvSpPr>
        <p:spPr>
          <a:xfrm>
            <a:off x="594360" y="2286000"/>
            <a:ext cx="2373554" cy="2331720"/>
          </a:xfrm>
          <a:prstGeom prst="roundRect">
            <a:avLst>
              <a:gd name="adj" fmla="val 3922"/>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6" name="Text 4"/>
          <p:cNvSpPr txBox="1"/>
          <p:nvPr/>
        </p:nvSpPr>
        <p:spPr>
          <a:xfrm>
            <a:off x="822960" y="2514600"/>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1</a:t>
            </a:r>
            <a:endParaRPr lang="en-US" sz="1200" dirty="0"/>
          </a:p>
        </p:txBody>
      </p:sp>
      <p:sp>
        <p:nvSpPr>
          <p:cNvPr id="7" name="Text 5"/>
          <p:cNvSpPr txBox="1"/>
          <p:nvPr/>
        </p:nvSpPr>
        <p:spPr>
          <a:xfrm>
            <a:off x="822960" y="2971800"/>
            <a:ext cx="1916354" cy="411480"/>
          </a:xfrm>
          <a:prstGeom prst="rect">
            <a:avLst/>
          </a:prstGeom>
          <a:noFill/>
          <a:ln/>
        </p:spPr>
        <p:txBody>
          <a:bodyPr wrap="square" lIns="0" tIns="0" rIns="0" bIns="0" rtlCol="0" anchor="t"/>
          <a:lstStyle/>
          <a:p>
            <a:pPr algn="l" indent="0" marL="0">
              <a:buNone/>
            </a:pPr>
            <a:r>
              <a:rPr lang="en-US" sz="2100" dirty="0">
                <a:solidFill>
                  <a:srgbClr val="1C1A17"/>
                </a:solidFill>
                <a:latin typeface="Georgia" pitchFamily="34" charset="0"/>
                <a:ea typeface="Georgia" pitchFamily="34" charset="-122"/>
                <a:cs typeface="Georgia" pitchFamily="34" charset="-120"/>
              </a:rPr>
              <a:t>Interview</a:t>
            </a:r>
            <a:endParaRPr lang="en-US" sz="2100" dirty="0"/>
          </a:p>
        </p:txBody>
      </p:sp>
      <p:sp>
        <p:nvSpPr>
          <p:cNvPr id="8" name="Text 6"/>
          <p:cNvSpPr txBox="1"/>
          <p:nvPr/>
        </p:nvSpPr>
        <p:spPr>
          <a:xfrm>
            <a:off x="822960" y="3429000"/>
            <a:ext cx="1916354" cy="1097280"/>
          </a:xfrm>
          <a:prstGeom prst="rect">
            <a:avLst/>
          </a:prstGeom>
          <a:noFill/>
          <a:ln/>
        </p:spPr>
        <p:txBody>
          <a:bodyPr wrap="square" lIns="0" tIns="0" rIns="0" bIns="0" rtlCol="0" anchor="t"/>
          <a:lstStyle/>
          <a:p>
            <a:pPr algn="l" indent="0" marL="0">
              <a:lnSpc>
                <a:spcPct val="115000"/>
              </a:lnSpc>
              <a:buNone/>
            </a:pPr>
            <a:r>
              <a:rPr lang="en-US" sz="1200" dirty="0">
                <a:solidFill>
                  <a:srgbClr val="3B3631"/>
                </a:solidFill>
                <a:latin typeface="Arial" pitchFamily="34" charset="0"/>
                <a:ea typeface="Arial" pitchFamily="34" charset="-122"/>
                <a:cs typeface="Arial" pitchFamily="34" charset="-120"/>
              </a:rPr>
              <a:t>A voice agent asks one question at a time and follows the thread — the hedges, the names, the exceptions.</a:t>
            </a:r>
            <a:endParaRPr lang="en-US" sz="1200" dirty="0"/>
          </a:p>
        </p:txBody>
      </p:sp>
      <p:sp>
        <p:nvSpPr>
          <p:cNvPr id="9" name="Shape 7"/>
          <p:cNvSpPr/>
          <p:nvPr/>
        </p:nvSpPr>
        <p:spPr>
          <a:xfrm>
            <a:off x="3059354" y="3451860"/>
            <a:ext cx="320040" cy="0"/>
          </a:xfrm>
          <a:prstGeom prst="line">
            <a:avLst/>
          </a:prstGeom>
          <a:noFill/>
          <a:ln w="19050">
            <a:solidFill>
              <a:srgbClr val="B8541E"/>
            </a:solidFill>
            <a:prstDash val="solid"/>
            <a:tailEnd type="triangle"/>
          </a:ln>
        </p:spPr>
      </p:sp>
      <p:sp>
        <p:nvSpPr>
          <p:cNvPr id="10" name="Shape 8"/>
          <p:cNvSpPr/>
          <p:nvPr/>
        </p:nvSpPr>
        <p:spPr>
          <a:xfrm>
            <a:off x="3470834" y="2286000"/>
            <a:ext cx="2373554" cy="2331720"/>
          </a:xfrm>
          <a:prstGeom prst="roundRect">
            <a:avLst>
              <a:gd name="adj" fmla="val 3922"/>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11" name="Text 9"/>
          <p:cNvSpPr txBox="1"/>
          <p:nvPr/>
        </p:nvSpPr>
        <p:spPr>
          <a:xfrm>
            <a:off x="3699434" y="2514600"/>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2</a:t>
            </a:r>
            <a:endParaRPr lang="en-US" sz="1200" dirty="0"/>
          </a:p>
        </p:txBody>
      </p:sp>
      <p:sp>
        <p:nvSpPr>
          <p:cNvPr id="12" name="Text 10"/>
          <p:cNvSpPr txBox="1"/>
          <p:nvPr/>
        </p:nvSpPr>
        <p:spPr>
          <a:xfrm>
            <a:off x="3699434" y="2971800"/>
            <a:ext cx="1916354" cy="411480"/>
          </a:xfrm>
          <a:prstGeom prst="rect">
            <a:avLst/>
          </a:prstGeom>
          <a:noFill/>
          <a:ln/>
        </p:spPr>
        <p:txBody>
          <a:bodyPr wrap="square" lIns="0" tIns="0" rIns="0" bIns="0" rtlCol="0" anchor="t"/>
          <a:lstStyle/>
          <a:p>
            <a:pPr algn="l" indent="0" marL="0">
              <a:buNone/>
            </a:pPr>
            <a:r>
              <a:rPr lang="en-US" sz="2100" dirty="0">
                <a:solidFill>
                  <a:srgbClr val="1C1A17"/>
                </a:solidFill>
                <a:latin typeface="Georgia" pitchFamily="34" charset="0"/>
                <a:ea typeface="Georgia" pitchFamily="34" charset="-122"/>
                <a:cs typeface="Georgia" pitchFamily="34" charset="-120"/>
              </a:rPr>
              <a:t>Distil</a:t>
            </a:r>
            <a:endParaRPr lang="en-US" sz="2100" dirty="0"/>
          </a:p>
        </p:txBody>
      </p:sp>
      <p:sp>
        <p:nvSpPr>
          <p:cNvPr id="13" name="Text 11"/>
          <p:cNvSpPr txBox="1"/>
          <p:nvPr/>
        </p:nvSpPr>
        <p:spPr>
          <a:xfrm>
            <a:off x="3699434" y="3429000"/>
            <a:ext cx="1916354" cy="1097280"/>
          </a:xfrm>
          <a:prstGeom prst="rect">
            <a:avLst/>
          </a:prstGeom>
          <a:noFill/>
          <a:ln/>
        </p:spPr>
        <p:txBody>
          <a:bodyPr wrap="square" lIns="0" tIns="0" rIns="0" bIns="0" rtlCol="0" anchor="t"/>
          <a:lstStyle/>
          <a:p>
            <a:pPr algn="l" indent="0" marL="0">
              <a:lnSpc>
                <a:spcPct val="115000"/>
              </a:lnSpc>
              <a:buNone/>
            </a:pPr>
            <a:r>
              <a:rPr lang="en-US" sz="1200" dirty="0">
                <a:solidFill>
                  <a:srgbClr val="3B3631"/>
                </a:solidFill>
                <a:latin typeface="Arial" pitchFamily="34" charset="0"/>
                <a:ea typeface="Arial" pitchFamily="34" charset="-122"/>
                <a:cs typeface="Arial" pitchFamily="34" charset="-120"/>
              </a:rPr>
              <a:t>Every answer becomes typed, cited knowledge atoms, with the expert’s own words attached as the source.</a:t>
            </a:r>
            <a:endParaRPr lang="en-US" sz="1200" dirty="0"/>
          </a:p>
        </p:txBody>
      </p:sp>
      <p:sp>
        <p:nvSpPr>
          <p:cNvPr id="14" name="Shape 12"/>
          <p:cNvSpPr/>
          <p:nvPr/>
        </p:nvSpPr>
        <p:spPr>
          <a:xfrm>
            <a:off x="5935828" y="3451860"/>
            <a:ext cx="320040" cy="0"/>
          </a:xfrm>
          <a:prstGeom prst="line">
            <a:avLst/>
          </a:prstGeom>
          <a:noFill/>
          <a:ln w="19050">
            <a:solidFill>
              <a:srgbClr val="B8541E"/>
            </a:solidFill>
            <a:prstDash val="solid"/>
            <a:tailEnd type="triangle"/>
          </a:ln>
        </p:spPr>
      </p:sp>
      <p:sp>
        <p:nvSpPr>
          <p:cNvPr id="15" name="Shape 13"/>
          <p:cNvSpPr/>
          <p:nvPr/>
        </p:nvSpPr>
        <p:spPr>
          <a:xfrm>
            <a:off x="6347308" y="2286000"/>
            <a:ext cx="2373554" cy="2331720"/>
          </a:xfrm>
          <a:prstGeom prst="roundRect">
            <a:avLst>
              <a:gd name="adj" fmla="val 3922"/>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16" name="Text 14"/>
          <p:cNvSpPr txBox="1"/>
          <p:nvPr/>
        </p:nvSpPr>
        <p:spPr>
          <a:xfrm>
            <a:off x="6575908" y="2514600"/>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3</a:t>
            </a:r>
            <a:endParaRPr lang="en-US" sz="1200" dirty="0"/>
          </a:p>
        </p:txBody>
      </p:sp>
      <p:sp>
        <p:nvSpPr>
          <p:cNvPr id="17" name="Text 15"/>
          <p:cNvSpPr txBox="1"/>
          <p:nvPr/>
        </p:nvSpPr>
        <p:spPr>
          <a:xfrm>
            <a:off x="6575908" y="2971800"/>
            <a:ext cx="1916354" cy="411480"/>
          </a:xfrm>
          <a:prstGeom prst="rect">
            <a:avLst/>
          </a:prstGeom>
          <a:noFill/>
          <a:ln/>
        </p:spPr>
        <p:txBody>
          <a:bodyPr wrap="square" lIns="0" tIns="0" rIns="0" bIns="0" rtlCol="0" anchor="t"/>
          <a:lstStyle/>
          <a:p>
            <a:pPr algn="l" indent="0" marL="0">
              <a:buNone/>
            </a:pPr>
            <a:r>
              <a:rPr lang="en-US" sz="2100" dirty="0">
                <a:solidFill>
                  <a:srgbClr val="1C1A17"/>
                </a:solidFill>
                <a:latin typeface="Georgia" pitchFamily="34" charset="0"/>
                <a:ea typeface="Georgia" pitchFamily="34" charset="-122"/>
                <a:cs typeface="Georgia" pitchFamily="34" charset="-120"/>
              </a:rPr>
              <a:t>Ask</a:t>
            </a:r>
            <a:endParaRPr lang="en-US" sz="2100" dirty="0"/>
          </a:p>
        </p:txBody>
      </p:sp>
      <p:sp>
        <p:nvSpPr>
          <p:cNvPr id="18" name="Text 16"/>
          <p:cNvSpPr txBox="1"/>
          <p:nvPr/>
        </p:nvSpPr>
        <p:spPr>
          <a:xfrm>
            <a:off x="6575908" y="3429000"/>
            <a:ext cx="1916354" cy="1097280"/>
          </a:xfrm>
          <a:prstGeom prst="rect">
            <a:avLst/>
          </a:prstGeom>
          <a:noFill/>
          <a:ln/>
        </p:spPr>
        <p:txBody>
          <a:bodyPr wrap="square" lIns="0" tIns="0" rIns="0" bIns="0" rtlCol="0" anchor="t"/>
          <a:lstStyle/>
          <a:p>
            <a:pPr algn="l" indent="0" marL="0">
              <a:lnSpc>
                <a:spcPct val="115000"/>
              </a:lnSpc>
              <a:buNone/>
            </a:pPr>
            <a:r>
              <a:rPr lang="en-US" sz="1200" dirty="0">
                <a:solidFill>
                  <a:srgbClr val="3B3631"/>
                </a:solidFill>
                <a:latin typeface="Arial" pitchFamily="34" charset="0"/>
                <a:ea typeface="Arial" pitchFamily="34" charset="-122"/>
                <a:cs typeface="Arial" pitchFamily="34" charset="-120"/>
              </a:rPr>
              <a:t>The successor talks to the expert’s “twin”. Answers cite the expert’s words — spoken in their cloned voice.</a:t>
            </a:r>
            <a:endParaRPr lang="en-US" sz="1200" dirty="0"/>
          </a:p>
        </p:txBody>
      </p:sp>
      <p:sp>
        <p:nvSpPr>
          <p:cNvPr id="19" name="Shape 17"/>
          <p:cNvSpPr/>
          <p:nvPr/>
        </p:nvSpPr>
        <p:spPr>
          <a:xfrm>
            <a:off x="8812301" y="3451860"/>
            <a:ext cx="320040" cy="0"/>
          </a:xfrm>
          <a:prstGeom prst="line">
            <a:avLst/>
          </a:prstGeom>
          <a:noFill/>
          <a:ln w="19050">
            <a:solidFill>
              <a:srgbClr val="B8541E"/>
            </a:solidFill>
            <a:prstDash val="solid"/>
            <a:tailEnd type="triangle"/>
          </a:ln>
        </p:spPr>
      </p:sp>
      <p:sp>
        <p:nvSpPr>
          <p:cNvPr id="20" name="Shape 18"/>
          <p:cNvSpPr/>
          <p:nvPr/>
        </p:nvSpPr>
        <p:spPr>
          <a:xfrm>
            <a:off x="9223781" y="2286000"/>
            <a:ext cx="2373554" cy="2331720"/>
          </a:xfrm>
          <a:prstGeom prst="roundRect">
            <a:avLst>
              <a:gd name="adj" fmla="val 3922"/>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21" name="Text 19"/>
          <p:cNvSpPr txBox="1"/>
          <p:nvPr/>
        </p:nvSpPr>
        <p:spPr>
          <a:xfrm>
            <a:off x="9452381" y="2514600"/>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4</a:t>
            </a:r>
            <a:endParaRPr lang="en-US" sz="1200" dirty="0"/>
          </a:p>
        </p:txBody>
      </p:sp>
      <p:sp>
        <p:nvSpPr>
          <p:cNvPr id="22" name="Text 20"/>
          <p:cNvSpPr txBox="1"/>
          <p:nvPr/>
        </p:nvSpPr>
        <p:spPr>
          <a:xfrm>
            <a:off x="9452381" y="2971800"/>
            <a:ext cx="1916354" cy="411480"/>
          </a:xfrm>
          <a:prstGeom prst="rect">
            <a:avLst/>
          </a:prstGeom>
          <a:noFill/>
          <a:ln/>
        </p:spPr>
        <p:txBody>
          <a:bodyPr wrap="square" lIns="0" tIns="0" rIns="0" bIns="0" rtlCol="0" anchor="t"/>
          <a:lstStyle/>
          <a:p>
            <a:pPr algn="l" indent="0" marL="0">
              <a:buNone/>
            </a:pPr>
            <a:r>
              <a:rPr lang="en-US" sz="2100" dirty="0">
                <a:solidFill>
                  <a:srgbClr val="1C1A17"/>
                </a:solidFill>
                <a:latin typeface="Georgia" pitchFamily="34" charset="0"/>
                <a:ea typeface="Georgia" pitchFamily="34" charset="-122"/>
                <a:cs typeface="Georgia" pitchFamily="34" charset="-120"/>
              </a:rPr>
              <a:t>Gaps</a:t>
            </a:r>
            <a:endParaRPr lang="en-US" sz="2100" dirty="0"/>
          </a:p>
        </p:txBody>
      </p:sp>
      <p:sp>
        <p:nvSpPr>
          <p:cNvPr id="23" name="Text 21"/>
          <p:cNvSpPr txBox="1"/>
          <p:nvPr/>
        </p:nvSpPr>
        <p:spPr>
          <a:xfrm>
            <a:off x="9452381" y="3429000"/>
            <a:ext cx="1916354" cy="1097280"/>
          </a:xfrm>
          <a:prstGeom prst="rect">
            <a:avLst/>
          </a:prstGeom>
          <a:noFill/>
          <a:ln/>
        </p:spPr>
        <p:txBody>
          <a:bodyPr wrap="square" lIns="0" tIns="0" rIns="0" bIns="0" rtlCol="0" anchor="t"/>
          <a:lstStyle/>
          <a:p>
            <a:pPr algn="l" indent="0" marL="0">
              <a:lnSpc>
                <a:spcPct val="115000"/>
              </a:lnSpc>
              <a:buNone/>
            </a:pPr>
            <a:r>
              <a:rPr lang="en-US" sz="1200" dirty="0">
                <a:solidFill>
                  <a:srgbClr val="3B3631"/>
                </a:solidFill>
                <a:latin typeface="Arial" pitchFamily="34" charset="0"/>
                <a:ea typeface="Arial" pitchFamily="34" charset="-122"/>
                <a:cs typeface="Arial" pitchFamily="34" charset="-120"/>
              </a:rPr>
              <a:t>Anything the twin can’t answer is queued, and becomes the first question of the next interview.</a:t>
            </a:r>
            <a:endParaRPr lang="en-US" sz="1200" dirty="0"/>
          </a:p>
        </p:txBody>
      </p:sp>
      <p:sp>
        <p:nvSpPr>
          <p:cNvPr id="24" name="Shape 22"/>
          <p:cNvSpPr/>
          <p:nvPr/>
        </p:nvSpPr>
        <p:spPr>
          <a:xfrm>
            <a:off x="10410558" y="4617720"/>
            <a:ext cx="0" cy="384048"/>
          </a:xfrm>
          <a:prstGeom prst="line">
            <a:avLst/>
          </a:prstGeom>
          <a:noFill/>
          <a:ln w="15875">
            <a:solidFill>
              <a:srgbClr val="B8541E"/>
            </a:solidFill>
            <a:prstDash val="dash"/>
          </a:ln>
        </p:spPr>
      </p:sp>
      <p:sp>
        <p:nvSpPr>
          <p:cNvPr id="25" name="Shape 23"/>
          <p:cNvSpPr/>
          <p:nvPr/>
        </p:nvSpPr>
        <p:spPr>
          <a:xfrm>
            <a:off x="1781137" y="5001768"/>
            <a:ext cx="8629421" cy="0"/>
          </a:xfrm>
          <a:prstGeom prst="line">
            <a:avLst/>
          </a:prstGeom>
          <a:noFill/>
          <a:ln w="15875">
            <a:solidFill>
              <a:srgbClr val="B8541E"/>
            </a:solidFill>
            <a:prstDash val="dash"/>
          </a:ln>
        </p:spPr>
      </p:sp>
      <p:sp>
        <p:nvSpPr>
          <p:cNvPr id="26" name="Shape 24"/>
          <p:cNvSpPr/>
          <p:nvPr/>
        </p:nvSpPr>
        <p:spPr>
          <a:xfrm flipV="1">
            <a:off x="1781137" y="4617720"/>
            <a:ext cx="0" cy="384048"/>
          </a:xfrm>
          <a:prstGeom prst="line">
            <a:avLst/>
          </a:prstGeom>
          <a:noFill/>
          <a:ln w="15875">
            <a:solidFill>
              <a:srgbClr val="B8541E"/>
            </a:solidFill>
            <a:prstDash val="dash"/>
            <a:tailEnd type="triangle"/>
          </a:ln>
        </p:spPr>
      </p:sp>
      <p:sp>
        <p:nvSpPr>
          <p:cNvPr id="27" name="Text 25"/>
          <p:cNvSpPr txBox="1"/>
          <p:nvPr/>
        </p:nvSpPr>
        <p:spPr>
          <a:xfrm>
            <a:off x="3352648" y="4855464"/>
            <a:ext cx="5486400" cy="292608"/>
          </a:xfrm>
          <a:prstGeom prst="rect">
            <a:avLst/>
          </a:prstGeom>
          <a:solidFill>
            <a:srgbClr val="F6F1E9"/>
          </a:solidFill>
          <a:ln/>
        </p:spPr>
        <p:txBody>
          <a:bodyPr wrap="square" lIns="0" tIns="0" rIns="0" bIns="0" rtlCol="0" anchor="ctr"/>
          <a:lstStyle/>
          <a:p>
            <a:pPr algn="ctr" indent="0" marL="0">
              <a:buNone/>
            </a:pPr>
            <a:r>
              <a:rPr lang="en-US" sz="1100" i="1" dirty="0">
                <a:solidFill>
                  <a:srgbClr val="B8541E"/>
                </a:solidFill>
                <a:latin typeface="Arial" pitchFamily="34" charset="0"/>
                <a:ea typeface="Arial" pitchFamily="34" charset="-122"/>
                <a:cs typeface="Arial" pitchFamily="34" charset="-120"/>
              </a:rPr>
              <a:t>Every unanswered question becomes the first question of the next interview</a:t>
            </a:r>
            <a:endParaRPr lang="en-US" sz="1100" dirty="0"/>
          </a:p>
        </p:txBody>
      </p:sp>
      <p:sp>
        <p:nvSpPr>
          <p:cNvPr id="28" name="Text 26"/>
          <p:cNvSpPr txBox="1"/>
          <p:nvPr/>
        </p:nvSpPr>
        <p:spPr>
          <a:xfrm>
            <a:off x="594360" y="5687568"/>
            <a:ext cx="1463040" cy="274320"/>
          </a:xfrm>
          <a:prstGeom prst="rect">
            <a:avLst/>
          </a:prstGeom>
          <a:noFill/>
          <a:ln/>
        </p:spPr>
        <p:txBody>
          <a:bodyPr wrap="square" lIns="0" tIns="0" rIns="0" bIns="0" rtlCol="0" anchor="ctr"/>
          <a:lstStyle/>
          <a:p>
            <a:pPr algn="l" indent="0" marL="0">
              <a:buNone/>
            </a:pPr>
            <a:r>
              <a:rPr lang="en-US" sz="1100" dirty="0">
                <a:solidFill>
                  <a:srgbClr val="8A8377"/>
                </a:solidFill>
                <a:latin typeface="Arial" pitchFamily="34" charset="0"/>
                <a:ea typeface="Arial" pitchFamily="34" charset="-122"/>
                <a:cs typeface="Arial" pitchFamily="34" charset="-120"/>
              </a:rPr>
              <a:t>Nine atom types</a:t>
            </a:r>
            <a:endParaRPr lang="en-US" sz="1100" dirty="0"/>
          </a:p>
        </p:txBody>
      </p:sp>
      <p:sp>
        <p:nvSpPr>
          <p:cNvPr id="29" name="Text 27"/>
          <p:cNvSpPr txBox="1"/>
          <p:nvPr/>
        </p:nvSpPr>
        <p:spPr>
          <a:xfrm>
            <a:off x="2103120" y="5687568"/>
            <a:ext cx="1083564"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850" b="1" spc="150" kern="0" dirty="0">
                <a:solidFill>
                  <a:srgbClr val="B8541E"/>
                </a:solidFill>
                <a:latin typeface="Arial" pitchFamily="34" charset="0"/>
                <a:ea typeface="Arial" pitchFamily="34" charset="-122"/>
                <a:cs typeface="Arial" pitchFamily="34" charset="-120"/>
              </a:rPr>
              <a:t>PROCEDURE</a:t>
            </a:r>
            <a:endParaRPr lang="en-US" sz="850" dirty="0"/>
          </a:p>
        </p:txBody>
      </p:sp>
      <p:sp>
        <p:nvSpPr>
          <p:cNvPr id="30" name="Text 28"/>
          <p:cNvSpPr txBox="1"/>
          <p:nvPr/>
        </p:nvSpPr>
        <p:spPr>
          <a:xfrm>
            <a:off x="3296412" y="5687568"/>
            <a:ext cx="694944" cy="274320"/>
          </a:xfrm>
          <a:prstGeom prst="roundRect">
            <a:avLst>
              <a:gd name="adj" fmla="val 50000"/>
            </a:avLst>
          </a:prstGeom>
          <a:solidFill>
            <a:srgbClr val="1C1A17"/>
          </a:solidFill>
          <a:ln/>
        </p:spPr>
        <p:txBody>
          <a:bodyPr wrap="square" lIns="0" tIns="0" rIns="0" bIns="0" rtlCol="0" anchor="ctr"/>
          <a:lstStyle/>
          <a:p>
            <a:pPr algn="ctr" indent="0" marL="0">
              <a:buNone/>
            </a:pPr>
            <a:r>
              <a:rPr lang="en-US" sz="850" b="1" spc="150" kern="0" dirty="0">
                <a:solidFill>
                  <a:srgbClr val="F6F1E9"/>
                </a:solidFill>
                <a:latin typeface="Arial" pitchFamily="34" charset="0"/>
                <a:ea typeface="Arial" pitchFamily="34" charset="-122"/>
                <a:cs typeface="Arial" pitchFamily="34" charset="-120"/>
              </a:rPr>
              <a:t>RULE</a:t>
            </a:r>
            <a:endParaRPr lang="en-US" sz="850" dirty="0"/>
          </a:p>
        </p:txBody>
      </p:sp>
      <p:sp>
        <p:nvSpPr>
          <p:cNvPr id="31" name="Text 29"/>
          <p:cNvSpPr txBox="1"/>
          <p:nvPr/>
        </p:nvSpPr>
        <p:spPr>
          <a:xfrm>
            <a:off x="4101084" y="5687568"/>
            <a:ext cx="850392" cy="274320"/>
          </a:xfrm>
          <a:prstGeom prst="roundRect">
            <a:avLst>
              <a:gd name="adj" fmla="val 50000"/>
            </a:avLst>
          </a:prstGeom>
          <a:solidFill>
            <a:srgbClr val="F7E8CC"/>
          </a:solidFill>
          <a:ln/>
        </p:spPr>
        <p:txBody>
          <a:bodyPr wrap="square" lIns="0" tIns="0" rIns="0" bIns="0" rtlCol="0" anchor="ctr"/>
          <a:lstStyle/>
          <a:p>
            <a:pPr algn="ctr" indent="0" marL="0">
              <a:buNone/>
            </a:pPr>
            <a:r>
              <a:rPr lang="en-US" sz="850" b="1" spc="150" kern="0" dirty="0">
                <a:solidFill>
                  <a:srgbClr val="9A5A14"/>
                </a:solidFill>
                <a:latin typeface="Arial" pitchFamily="34" charset="0"/>
                <a:ea typeface="Arial" pitchFamily="34" charset="-122"/>
                <a:cs typeface="Arial" pitchFamily="34" charset="-120"/>
              </a:rPr>
              <a:t>GOTCHA</a:t>
            </a:r>
            <a:endParaRPr lang="en-US" sz="850" dirty="0"/>
          </a:p>
        </p:txBody>
      </p:sp>
      <p:sp>
        <p:nvSpPr>
          <p:cNvPr id="32" name="Text 30"/>
          <p:cNvSpPr txBox="1"/>
          <p:nvPr/>
        </p:nvSpPr>
        <p:spPr>
          <a:xfrm>
            <a:off x="5061204" y="5687568"/>
            <a:ext cx="928116" cy="274320"/>
          </a:xfrm>
          <a:prstGeom prst="roundRect">
            <a:avLst>
              <a:gd name="adj" fmla="val 50000"/>
            </a:avLst>
          </a:prstGeom>
          <a:solidFill>
            <a:srgbClr val="DEE8E0"/>
          </a:solidFill>
          <a:ln/>
        </p:spPr>
        <p:txBody>
          <a:bodyPr wrap="square" lIns="0" tIns="0" rIns="0" bIns="0" rtlCol="0" anchor="ctr"/>
          <a:lstStyle/>
          <a:p>
            <a:pPr algn="ctr" indent="0" marL="0">
              <a:buNone/>
            </a:pPr>
            <a:r>
              <a:rPr lang="en-US" sz="850" b="1" spc="150" kern="0" dirty="0">
                <a:solidFill>
                  <a:srgbClr val="4F7D5C"/>
                </a:solidFill>
                <a:latin typeface="Arial" pitchFamily="34" charset="0"/>
                <a:ea typeface="Arial" pitchFamily="34" charset="-122"/>
                <a:cs typeface="Arial" pitchFamily="34" charset="-120"/>
              </a:rPr>
              <a:t>CONTACT</a:t>
            </a:r>
            <a:endParaRPr lang="en-US" sz="850" dirty="0"/>
          </a:p>
        </p:txBody>
      </p:sp>
      <p:sp>
        <p:nvSpPr>
          <p:cNvPr id="33" name="Text 31"/>
          <p:cNvSpPr txBox="1"/>
          <p:nvPr/>
        </p:nvSpPr>
        <p:spPr>
          <a:xfrm>
            <a:off x="6099048" y="5687568"/>
            <a:ext cx="694944"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850" b="1" spc="150" kern="0" dirty="0">
                <a:solidFill>
                  <a:srgbClr val="B8541E"/>
                </a:solidFill>
                <a:latin typeface="Arial" pitchFamily="34" charset="0"/>
                <a:ea typeface="Arial" pitchFamily="34" charset="-122"/>
                <a:cs typeface="Arial" pitchFamily="34" charset="-120"/>
              </a:rPr>
              <a:t>TOOL</a:t>
            </a:r>
            <a:endParaRPr lang="en-US" sz="850" dirty="0"/>
          </a:p>
        </p:txBody>
      </p:sp>
      <p:sp>
        <p:nvSpPr>
          <p:cNvPr id="34" name="Text 32"/>
          <p:cNvSpPr txBox="1"/>
          <p:nvPr/>
        </p:nvSpPr>
        <p:spPr>
          <a:xfrm>
            <a:off x="6903720" y="5687568"/>
            <a:ext cx="1005840" cy="274320"/>
          </a:xfrm>
          <a:prstGeom prst="roundRect">
            <a:avLst>
              <a:gd name="adj" fmla="val 50000"/>
            </a:avLst>
          </a:prstGeom>
          <a:solidFill>
            <a:srgbClr val="DEE8E0"/>
          </a:solidFill>
          <a:ln/>
        </p:spPr>
        <p:txBody>
          <a:bodyPr wrap="square" lIns="0" tIns="0" rIns="0" bIns="0" rtlCol="0" anchor="ctr"/>
          <a:lstStyle/>
          <a:p>
            <a:pPr algn="ctr" indent="0" marL="0">
              <a:buNone/>
            </a:pPr>
            <a:r>
              <a:rPr lang="en-US" sz="850" b="1" spc="150" kern="0" dirty="0">
                <a:solidFill>
                  <a:srgbClr val="4F7D5C"/>
                </a:solidFill>
                <a:latin typeface="Arial" pitchFamily="34" charset="0"/>
                <a:ea typeface="Arial" pitchFamily="34" charset="-122"/>
                <a:cs typeface="Arial" pitchFamily="34" charset="-120"/>
              </a:rPr>
              <a:t>DECISION</a:t>
            </a:r>
            <a:endParaRPr lang="en-US" sz="850" dirty="0"/>
          </a:p>
        </p:txBody>
      </p:sp>
      <p:sp>
        <p:nvSpPr>
          <p:cNvPr id="35" name="Text 33"/>
          <p:cNvSpPr txBox="1"/>
          <p:nvPr/>
        </p:nvSpPr>
        <p:spPr>
          <a:xfrm>
            <a:off x="8019288" y="5687568"/>
            <a:ext cx="694944"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850" b="1" spc="150" kern="0" dirty="0">
                <a:solidFill>
                  <a:srgbClr val="B8541E"/>
                </a:solidFill>
                <a:latin typeface="Arial" pitchFamily="34" charset="0"/>
                <a:ea typeface="Arial" pitchFamily="34" charset="-122"/>
                <a:cs typeface="Arial" pitchFamily="34" charset="-120"/>
              </a:rPr>
              <a:t>RISK</a:t>
            </a:r>
            <a:endParaRPr lang="en-US" sz="850" dirty="0"/>
          </a:p>
        </p:txBody>
      </p:sp>
      <p:sp>
        <p:nvSpPr>
          <p:cNvPr id="36" name="Text 34"/>
          <p:cNvSpPr txBox="1"/>
          <p:nvPr/>
        </p:nvSpPr>
        <p:spPr>
          <a:xfrm>
            <a:off x="8823960" y="5687568"/>
            <a:ext cx="1005840" cy="274320"/>
          </a:xfrm>
          <a:prstGeom prst="roundRect">
            <a:avLst>
              <a:gd name="adj" fmla="val 50000"/>
            </a:avLst>
          </a:prstGeom>
          <a:solidFill>
            <a:srgbClr val="F7E8CC"/>
          </a:solidFill>
          <a:ln/>
        </p:spPr>
        <p:txBody>
          <a:bodyPr wrap="square" lIns="0" tIns="0" rIns="0" bIns="0" rtlCol="0" anchor="ctr"/>
          <a:lstStyle/>
          <a:p>
            <a:pPr algn="ctr" indent="0" marL="0">
              <a:buNone/>
            </a:pPr>
            <a:r>
              <a:rPr lang="en-US" sz="850" b="1" spc="150" kern="0" dirty="0">
                <a:solidFill>
                  <a:srgbClr val="9A5A14"/>
                </a:solidFill>
                <a:latin typeface="Arial" pitchFamily="34" charset="0"/>
                <a:ea typeface="Arial" pitchFamily="34" charset="-122"/>
                <a:cs typeface="Arial" pitchFamily="34" charset="-120"/>
              </a:rPr>
              <a:t>GLOSSARY</a:t>
            </a:r>
            <a:endParaRPr lang="en-US" sz="850" dirty="0"/>
          </a:p>
        </p:txBody>
      </p:sp>
      <p:sp>
        <p:nvSpPr>
          <p:cNvPr id="37" name="Text 35"/>
          <p:cNvSpPr txBox="1"/>
          <p:nvPr/>
        </p:nvSpPr>
        <p:spPr>
          <a:xfrm>
            <a:off x="9939528" y="5687568"/>
            <a:ext cx="772668" cy="274320"/>
          </a:xfrm>
          <a:prstGeom prst="roundRect">
            <a:avLst>
              <a:gd name="adj" fmla="val 50000"/>
            </a:avLst>
          </a:prstGeom>
          <a:solidFill>
            <a:srgbClr val="DEE8E0"/>
          </a:solidFill>
          <a:ln/>
        </p:spPr>
        <p:txBody>
          <a:bodyPr wrap="square" lIns="0" tIns="0" rIns="0" bIns="0" rtlCol="0" anchor="ctr"/>
          <a:lstStyle/>
          <a:p>
            <a:pPr algn="ctr" indent="0" marL="0">
              <a:buNone/>
            </a:pPr>
            <a:r>
              <a:rPr lang="en-US" sz="850" b="1" spc="150" kern="0" dirty="0">
                <a:solidFill>
                  <a:srgbClr val="4F7D5C"/>
                </a:solidFill>
                <a:latin typeface="Arial" pitchFamily="34" charset="0"/>
                <a:ea typeface="Arial" pitchFamily="34" charset="-122"/>
                <a:cs typeface="Arial" pitchFamily="34" charset="-120"/>
              </a:rPr>
              <a:t>STORY</a:t>
            </a:r>
            <a:endParaRPr lang="en-US" sz="850" dirty="0"/>
          </a:p>
        </p:txBody>
      </p:sp>
      <p:sp>
        <p:nvSpPr>
          <p:cNvPr id="38" name="Text 36"/>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39" name="Text 37"/>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267004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DEMO · THE INTERVIEW ROOM</a:t>
            </a:r>
            <a:endParaRPr lang="en-US" sz="900" dirty="0"/>
          </a:p>
        </p:txBody>
      </p:sp>
      <p:sp>
        <p:nvSpPr>
          <p:cNvPr id="3" name="Text 1"/>
          <p:cNvSpPr txBox="1"/>
          <p:nvPr/>
        </p:nvSpPr>
        <p:spPr>
          <a:xfrm>
            <a:off x="594360" y="868680"/>
            <a:ext cx="11002975" cy="640080"/>
          </a:xfrm>
          <a:prstGeom prst="rect">
            <a:avLst/>
          </a:prstGeom>
          <a:noFill/>
          <a:ln/>
        </p:spPr>
        <p:txBody>
          <a:bodyPr wrap="square" lIns="0" tIns="0" rIns="0" bIns="0" rtlCol="0" anchor="t"/>
          <a:lstStyle/>
          <a:p>
            <a:pPr algn="l" indent="0" marL="0">
              <a:lnSpc>
                <a:spcPct val="105000"/>
              </a:lnSpc>
              <a:buNone/>
            </a:pPr>
            <a:r>
              <a:rPr lang="en-US" sz="3000" dirty="0">
                <a:solidFill>
                  <a:srgbClr val="1C1A17"/>
                </a:solidFill>
                <a:latin typeface="Georgia" pitchFamily="34" charset="0"/>
                <a:ea typeface="Georgia" pitchFamily="34" charset="-122"/>
                <a:cs typeface="Georgia" pitchFamily="34" charset="-120"/>
              </a:rPr>
              <a:t>The expert talks. Tacit asks, listens and distils.</a:t>
            </a:r>
            <a:endParaRPr lang="en-US" sz="3000" dirty="0"/>
          </a:p>
        </p:txBody>
      </p:sp>
      <p:pic>
        <p:nvPicPr>
          <p:cNvPr id="4" name="Image 0" descr="/Users/moorthy/Downloads/Projects/Build an AI Startup in One Day/tacit/docs/assets/interview.png">    </p:cNvPr>
          <p:cNvPicPr>
            <a:picLocks noChangeAspect="1"/>
          </p:cNvPicPr>
          <p:nvPr/>
        </p:nvPicPr>
        <p:blipFill>
          <a:blip r:embed="rId1"/>
          <a:stretch>
            <a:fillRect/>
          </a:stretch>
        </p:blipFill>
        <p:spPr>
          <a:xfrm>
            <a:off x="594360" y="1645920"/>
            <a:ext cx="7223760" cy="4514850"/>
          </a:xfrm>
          <a:prstGeom prst="rect">
            <a:avLst/>
          </a:prstGeom>
        </p:spPr>
      </p:pic>
      <p:sp>
        <p:nvSpPr>
          <p:cNvPr id="5" name="Shape 2"/>
          <p:cNvSpPr/>
          <p:nvPr/>
        </p:nvSpPr>
        <p:spPr>
          <a:xfrm>
            <a:off x="594360" y="1645920"/>
            <a:ext cx="7223760" cy="4514850"/>
          </a:xfrm>
          <a:prstGeom prst="rect">
            <a:avLst/>
          </a:prstGeom>
          <a:ln w="9525">
            <a:solidFill>
              <a:srgbClr val="D5CCBF"/>
            </a:solidFill>
            <a:prstDash val="solid"/>
          </a:ln>
        </p:spPr>
      </p:sp>
      <p:sp>
        <p:nvSpPr>
          <p:cNvPr id="6" name="Text 3"/>
          <p:cNvSpPr txBox="1"/>
          <p:nvPr/>
        </p:nvSpPr>
        <p:spPr>
          <a:xfrm>
            <a:off x="5107381" y="2989517"/>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1</a:t>
            </a:r>
            <a:endParaRPr lang="en-US" sz="1100" dirty="0"/>
          </a:p>
        </p:txBody>
      </p:sp>
      <p:sp>
        <p:nvSpPr>
          <p:cNvPr id="7" name="Text 4"/>
          <p:cNvSpPr txBox="1"/>
          <p:nvPr/>
        </p:nvSpPr>
        <p:spPr>
          <a:xfrm>
            <a:off x="5757520" y="3395853"/>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2</a:t>
            </a:r>
            <a:endParaRPr lang="en-US" sz="1100" dirty="0"/>
          </a:p>
        </p:txBody>
      </p:sp>
      <p:sp>
        <p:nvSpPr>
          <p:cNvPr id="8" name="Text 5"/>
          <p:cNvSpPr txBox="1"/>
          <p:nvPr/>
        </p:nvSpPr>
        <p:spPr>
          <a:xfrm>
            <a:off x="5757520" y="2086547"/>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3</a:t>
            </a:r>
            <a:endParaRPr lang="en-US" sz="1100" dirty="0"/>
          </a:p>
        </p:txBody>
      </p:sp>
      <p:sp>
        <p:nvSpPr>
          <p:cNvPr id="9" name="Text 6"/>
          <p:cNvSpPr txBox="1"/>
          <p:nvPr/>
        </p:nvSpPr>
        <p:spPr>
          <a:xfrm>
            <a:off x="5107381" y="5021199"/>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4</a:t>
            </a:r>
            <a:endParaRPr lang="en-US" sz="1100" dirty="0"/>
          </a:p>
        </p:txBody>
      </p:sp>
      <p:sp>
        <p:nvSpPr>
          <p:cNvPr id="10" name="Text 7"/>
          <p:cNvSpPr txBox="1"/>
          <p:nvPr/>
        </p:nvSpPr>
        <p:spPr>
          <a:xfrm>
            <a:off x="8183880" y="170078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1</a:t>
            </a:r>
            <a:endParaRPr lang="en-US" sz="1200" dirty="0"/>
          </a:p>
        </p:txBody>
      </p:sp>
      <p:sp>
        <p:nvSpPr>
          <p:cNvPr id="11" name="Text 8"/>
          <p:cNvSpPr txBox="1"/>
          <p:nvPr/>
        </p:nvSpPr>
        <p:spPr>
          <a:xfrm>
            <a:off x="8622792" y="1691640"/>
            <a:ext cx="2974543"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Speech-to-speech</a:t>
            </a:r>
            <a:endParaRPr lang="en-US" sz="1350" dirty="0"/>
          </a:p>
        </p:txBody>
      </p:sp>
      <p:sp>
        <p:nvSpPr>
          <p:cNvPr id="12" name="Text 9"/>
          <p:cNvSpPr txBox="1"/>
          <p:nvPr/>
        </p:nvSpPr>
        <p:spPr>
          <a:xfrm>
            <a:off x="8622792" y="1984248"/>
            <a:ext cx="2974543"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Boson Higgs Realtime: ~0.7 s responses, interruptions handled.</a:t>
            </a:r>
            <a:endParaRPr lang="en-US" sz="1200" dirty="0"/>
          </a:p>
        </p:txBody>
      </p:sp>
      <p:sp>
        <p:nvSpPr>
          <p:cNvPr id="13" name="Text 10"/>
          <p:cNvSpPr txBox="1"/>
          <p:nvPr/>
        </p:nvSpPr>
        <p:spPr>
          <a:xfrm>
            <a:off x="8183880" y="279806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2</a:t>
            </a:r>
            <a:endParaRPr lang="en-US" sz="1200" dirty="0"/>
          </a:p>
        </p:txBody>
      </p:sp>
      <p:sp>
        <p:nvSpPr>
          <p:cNvPr id="14" name="Text 11"/>
          <p:cNvSpPr txBox="1"/>
          <p:nvPr/>
        </p:nvSpPr>
        <p:spPr>
          <a:xfrm>
            <a:off x="8622792" y="2788920"/>
            <a:ext cx="2974543"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Atoms while talking</a:t>
            </a:r>
            <a:endParaRPr lang="en-US" sz="1350" dirty="0"/>
          </a:p>
        </p:txBody>
      </p:sp>
      <p:sp>
        <p:nvSpPr>
          <p:cNvPr id="15" name="Text 12"/>
          <p:cNvSpPr txBox="1"/>
          <p:nvPr/>
        </p:nvSpPr>
        <p:spPr>
          <a:xfrm>
            <a:off x="8622792" y="3081528"/>
            <a:ext cx="2974543"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Typed atoms appear while the expert is still speaking.</a:t>
            </a:r>
            <a:endParaRPr lang="en-US" sz="1200" dirty="0"/>
          </a:p>
        </p:txBody>
      </p:sp>
      <p:sp>
        <p:nvSpPr>
          <p:cNvPr id="16" name="Text 13"/>
          <p:cNvSpPr txBox="1"/>
          <p:nvPr/>
        </p:nvSpPr>
        <p:spPr>
          <a:xfrm>
            <a:off x="8183880" y="389534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3</a:t>
            </a:r>
            <a:endParaRPr lang="en-US" sz="1200" dirty="0"/>
          </a:p>
        </p:txBody>
      </p:sp>
      <p:sp>
        <p:nvSpPr>
          <p:cNvPr id="17" name="Text 14"/>
          <p:cNvSpPr txBox="1"/>
          <p:nvPr/>
        </p:nvSpPr>
        <p:spPr>
          <a:xfrm>
            <a:off x="8622792" y="3886200"/>
            <a:ext cx="2974543"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Live coverage map</a:t>
            </a:r>
            <a:endParaRPr lang="en-US" sz="1350" dirty="0"/>
          </a:p>
        </p:txBody>
      </p:sp>
      <p:sp>
        <p:nvSpPr>
          <p:cNvPr id="18" name="Text 15"/>
          <p:cNvSpPr txBox="1"/>
          <p:nvPr/>
        </p:nvSpPr>
        <p:spPr>
          <a:xfrm>
            <a:off x="8622792" y="4178808"/>
            <a:ext cx="2974543"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Fills in live and steers the interviewer toward what is still missing.</a:t>
            </a:r>
            <a:endParaRPr lang="en-US" sz="1200" dirty="0"/>
          </a:p>
        </p:txBody>
      </p:sp>
      <p:sp>
        <p:nvSpPr>
          <p:cNvPr id="19" name="Text 16"/>
          <p:cNvSpPr txBox="1"/>
          <p:nvPr/>
        </p:nvSpPr>
        <p:spPr>
          <a:xfrm>
            <a:off x="8183880" y="499262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4</a:t>
            </a:r>
            <a:endParaRPr lang="en-US" sz="1200" dirty="0"/>
          </a:p>
        </p:txBody>
      </p:sp>
      <p:sp>
        <p:nvSpPr>
          <p:cNvPr id="20" name="Text 17"/>
          <p:cNvSpPr txBox="1"/>
          <p:nvPr/>
        </p:nvSpPr>
        <p:spPr>
          <a:xfrm>
            <a:off x="8622792" y="4983480"/>
            <a:ext cx="2974543"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Can’t die on stage</a:t>
            </a:r>
            <a:endParaRPr lang="en-US" sz="1350" dirty="0"/>
          </a:p>
        </p:txBody>
      </p:sp>
      <p:sp>
        <p:nvSpPr>
          <p:cNvPr id="21" name="Text 18"/>
          <p:cNvSpPr txBox="1"/>
          <p:nvPr/>
        </p:nvSpPr>
        <p:spPr>
          <a:xfrm>
            <a:off x="8622792" y="5276088"/>
            <a:ext cx="2974543"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Fallbacks: browser voice, or just type.</a:t>
            </a:r>
            <a:endParaRPr lang="en-US" sz="1200" dirty="0"/>
          </a:p>
        </p:txBody>
      </p:sp>
      <p:sp>
        <p:nvSpPr>
          <p:cNvPr id="22" name="Text 19"/>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23" name="Text 20"/>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212140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DEMO · ASK THE TWIN</a:t>
            </a:r>
            <a:endParaRPr lang="en-US" sz="900" dirty="0"/>
          </a:p>
        </p:txBody>
      </p:sp>
      <p:sp>
        <p:nvSpPr>
          <p:cNvPr id="3" name="Text 1"/>
          <p:cNvSpPr txBox="1"/>
          <p:nvPr/>
        </p:nvSpPr>
        <p:spPr>
          <a:xfrm>
            <a:off x="594360" y="868680"/>
            <a:ext cx="11002975" cy="640080"/>
          </a:xfrm>
          <a:prstGeom prst="rect">
            <a:avLst/>
          </a:prstGeom>
          <a:noFill/>
          <a:ln/>
        </p:spPr>
        <p:txBody>
          <a:bodyPr wrap="square" lIns="0" tIns="0" rIns="0" bIns="0" rtlCol="0" anchor="t"/>
          <a:lstStyle/>
          <a:p>
            <a:pPr algn="l" indent="0" marL="0">
              <a:lnSpc>
                <a:spcPct val="105000"/>
              </a:lnSpc>
              <a:buNone/>
            </a:pPr>
            <a:r>
              <a:rPr lang="en-US" sz="3000" dirty="0">
                <a:solidFill>
                  <a:srgbClr val="1C1A17"/>
                </a:solidFill>
                <a:latin typeface="Georgia" pitchFamily="34" charset="0"/>
                <a:ea typeface="Georgia" pitchFamily="34" charset="-122"/>
                <a:cs typeface="Georgia" pitchFamily="34" charset="-120"/>
              </a:rPr>
              <a:t>The successor asks. The twin answers, with receipts.</a:t>
            </a:r>
            <a:endParaRPr lang="en-US" sz="3000" dirty="0"/>
          </a:p>
        </p:txBody>
      </p:sp>
      <p:sp>
        <p:nvSpPr>
          <p:cNvPr id="4" name="Text 2"/>
          <p:cNvSpPr txBox="1"/>
          <p:nvPr/>
        </p:nvSpPr>
        <p:spPr>
          <a:xfrm>
            <a:off x="594360" y="170078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1</a:t>
            </a:r>
            <a:endParaRPr lang="en-US" sz="1200" dirty="0"/>
          </a:p>
        </p:txBody>
      </p:sp>
      <p:sp>
        <p:nvSpPr>
          <p:cNvPr id="5" name="Text 3"/>
          <p:cNvSpPr txBox="1"/>
          <p:nvPr/>
        </p:nvSpPr>
        <p:spPr>
          <a:xfrm>
            <a:off x="1033272" y="1691640"/>
            <a:ext cx="3081528"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Grounded answers</a:t>
            </a:r>
            <a:endParaRPr lang="en-US" sz="1350" dirty="0"/>
          </a:p>
        </p:txBody>
      </p:sp>
      <p:sp>
        <p:nvSpPr>
          <p:cNvPr id="6" name="Text 4"/>
          <p:cNvSpPr txBox="1"/>
          <p:nvPr/>
        </p:nvSpPr>
        <p:spPr>
          <a:xfrm>
            <a:off x="1033272" y="1984248"/>
            <a:ext cx="3081528"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Every claim carries a [n] citation back to the interview transcript.</a:t>
            </a:r>
            <a:endParaRPr lang="en-US" sz="1200" dirty="0"/>
          </a:p>
        </p:txBody>
      </p:sp>
      <p:sp>
        <p:nvSpPr>
          <p:cNvPr id="7" name="Text 5"/>
          <p:cNvSpPr txBox="1"/>
          <p:nvPr/>
        </p:nvSpPr>
        <p:spPr>
          <a:xfrm>
            <a:off x="594360" y="279806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2</a:t>
            </a:r>
            <a:endParaRPr lang="en-US" sz="1200" dirty="0"/>
          </a:p>
        </p:txBody>
      </p:sp>
      <p:sp>
        <p:nvSpPr>
          <p:cNvPr id="8" name="Text 6"/>
          <p:cNvSpPr txBox="1"/>
          <p:nvPr/>
        </p:nvSpPr>
        <p:spPr>
          <a:xfrm>
            <a:off x="1033272" y="2788920"/>
            <a:ext cx="3081528"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Confidence gating</a:t>
            </a:r>
            <a:endParaRPr lang="en-US" sz="1350" dirty="0"/>
          </a:p>
        </p:txBody>
      </p:sp>
      <p:sp>
        <p:nvSpPr>
          <p:cNvPr id="9" name="Text 7"/>
          <p:cNvSpPr txBox="1"/>
          <p:nvPr/>
        </p:nvSpPr>
        <p:spPr>
          <a:xfrm>
            <a:off x="1033272" y="3081528"/>
            <a:ext cx="3081528"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Low confidence? Tacit doesn’t guess — the question is queued for the expert.</a:t>
            </a:r>
            <a:endParaRPr lang="en-US" sz="1200" dirty="0"/>
          </a:p>
        </p:txBody>
      </p:sp>
      <p:sp>
        <p:nvSpPr>
          <p:cNvPr id="10" name="Text 8"/>
          <p:cNvSpPr txBox="1"/>
          <p:nvPr/>
        </p:nvSpPr>
        <p:spPr>
          <a:xfrm>
            <a:off x="594360" y="389534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3</a:t>
            </a:r>
            <a:endParaRPr lang="en-US" sz="1200" dirty="0"/>
          </a:p>
        </p:txBody>
      </p:sp>
      <p:sp>
        <p:nvSpPr>
          <p:cNvPr id="11" name="Text 9"/>
          <p:cNvSpPr txBox="1"/>
          <p:nvPr/>
        </p:nvSpPr>
        <p:spPr>
          <a:xfrm>
            <a:off x="1033272" y="3886200"/>
            <a:ext cx="3081528"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The expert’s own voice</a:t>
            </a:r>
            <a:endParaRPr lang="en-US" sz="1350" dirty="0"/>
          </a:p>
        </p:txBody>
      </p:sp>
      <p:sp>
        <p:nvSpPr>
          <p:cNvPr id="12" name="Text 10"/>
          <p:cNvSpPr txBox="1"/>
          <p:nvPr/>
        </p:nvSpPr>
        <p:spPr>
          <a:xfrm>
            <a:off x="1033272" y="4178808"/>
            <a:ext cx="3081528"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Answers are spoken in the expert’s cloned voice (Higgs Audio).</a:t>
            </a:r>
            <a:endParaRPr lang="en-US" sz="1200" dirty="0"/>
          </a:p>
        </p:txBody>
      </p:sp>
      <p:sp>
        <p:nvSpPr>
          <p:cNvPr id="13" name="Text 11"/>
          <p:cNvSpPr txBox="1"/>
          <p:nvPr/>
        </p:nvSpPr>
        <p:spPr>
          <a:xfrm>
            <a:off x="594360" y="4992624"/>
            <a:ext cx="310896" cy="310896"/>
          </a:xfrm>
          <a:prstGeom prst="ellipse">
            <a:avLst/>
          </a:prstGeom>
          <a:solidFill>
            <a:srgbClr val="1C1A17"/>
          </a:solidFill>
          <a:ln/>
        </p:spPr>
        <p:txBody>
          <a:bodyPr wrap="square" lIns="0" tIns="0" rIns="0" bIns="0" rtlCol="0" anchor="ctr"/>
          <a:lstStyle/>
          <a:p>
            <a:pPr algn="ctr" indent="0" marL="0">
              <a:buNone/>
            </a:pPr>
            <a:r>
              <a:rPr lang="en-US" sz="1200" b="1" dirty="0">
                <a:solidFill>
                  <a:srgbClr val="F6F1E9"/>
                </a:solidFill>
                <a:latin typeface="Georgia" pitchFamily="34" charset="0"/>
                <a:ea typeface="Georgia" pitchFamily="34" charset="-122"/>
                <a:cs typeface="Georgia" pitchFamily="34" charset="-120"/>
              </a:rPr>
              <a:t>4</a:t>
            </a:r>
            <a:endParaRPr lang="en-US" sz="1200" dirty="0"/>
          </a:p>
        </p:txBody>
      </p:sp>
      <p:sp>
        <p:nvSpPr>
          <p:cNvPr id="14" name="Text 12"/>
          <p:cNvSpPr txBox="1"/>
          <p:nvPr/>
        </p:nvSpPr>
        <p:spPr>
          <a:xfrm>
            <a:off x="1033272" y="4983480"/>
            <a:ext cx="3081528" cy="274320"/>
          </a:xfrm>
          <a:prstGeom prst="rect">
            <a:avLst/>
          </a:prstGeom>
          <a:noFill/>
          <a:ln/>
        </p:spPr>
        <p:txBody>
          <a:bodyPr wrap="square" lIns="0" tIns="0" rIns="0" bIns="0" rtlCol="0" anchor="t"/>
          <a:lstStyle/>
          <a:p>
            <a:pPr algn="l" indent="0" marL="0">
              <a:buNone/>
            </a:pPr>
            <a:r>
              <a:rPr lang="en-US" sz="1350" b="1" dirty="0">
                <a:solidFill>
                  <a:srgbClr val="1C1A17"/>
                </a:solidFill>
                <a:latin typeface="Arial" pitchFamily="34" charset="0"/>
                <a:ea typeface="Arial" pitchFamily="34" charset="-122"/>
                <a:cs typeface="Arial" pitchFamily="34" charset="-120"/>
              </a:rPr>
              <a:t>Hybrid retrieval</a:t>
            </a:r>
            <a:endParaRPr lang="en-US" sz="1350" dirty="0"/>
          </a:p>
        </p:txBody>
      </p:sp>
      <p:sp>
        <p:nvSpPr>
          <p:cNvPr id="15" name="Text 13"/>
          <p:cNvSpPr txBox="1"/>
          <p:nvPr/>
        </p:nvSpPr>
        <p:spPr>
          <a:xfrm>
            <a:off x="1033272" y="5276088"/>
            <a:ext cx="3081528" cy="685800"/>
          </a:xfrm>
          <a:prstGeom prst="rect">
            <a:avLst/>
          </a:prstGeom>
          <a:noFill/>
          <a:ln/>
        </p:spPr>
        <p:txBody>
          <a:bodyPr wrap="square" lIns="0" tIns="0" rIns="0" bIns="0" rtlCol="0" anchor="t"/>
          <a:lstStyle/>
          <a:p>
            <a:pPr algn="l" indent="0" marL="0">
              <a:lnSpc>
                <a:spcPct val="112000"/>
              </a:lnSpc>
              <a:buNone/>
            </a:pPr>
            <a:r>
              <a:rPr lang="en-US" sz="1200" dirty="0">
                <a:solidFill>
                  <a:srgbClr val="3B3631"/>
                </a:solidFill>
                <a:latin typeface="Arial" pitchFamily="34" charset="0"/>
                <a:ea typeface="Arial" pitchFamily="34" charset="-122"/>
                <a:cs typeface="Arial" pitchFamily="34" charset="-120"/>
              </a:rPr>
              <a:t>BM25 + Qwen3 embeddings, fused with reciprocal rank fusion (RRF).</a:t>
            </a:r>
            <a:endParaRPr lang="en-US" sz="1200" dirty="0"/>
          </a:p>
        </p:txBody>
      </p:sp>
      <p:pic>
        <p:nvPicPr>
          <p:cNvPr id="16" name="Image 0" descr="/private/tmp/claude-501/-Users-moorthy-Downloads-Projects-Build-an-AI-Startup-in-One-Day/fc1451a5-f17c-4b0e-9586-ab905c32ce50/scratchpad/deck/ask-crop.png">    </p:cNvPr>
          <p:cNvPicPr>
            <a:picLocks noChangeAspect="1"/>
          </p:cNvPicPr>
          <p:nvPr/>
        </p:nvPicPr>
        <p:blipFill>
          <a:blip r:embed="rId1"/>
          <a:stretch>
            <a:fillRect/>
          </a:stretch>
        </p:blipFill>
        <p:spPr>
          <a:xfrm>
            <a:off x="4373575" y="1645920"/>
            <a:ext cx="7223760" cy="4464685"/>
          </a:xfrm>
          <a:prstGeom prst="rect">
            <a:avLst/>
          </a:prstGeom>
        </p:spPr>
      </p:pic>
      <p:sp>
        <p:nvSpPr>
          <p:cNvPr id="17" name="Shape 14"/>
          <p:cNvSpPr/>
          <p:nvPr/>
        </p:nvSpPr>
        <p:spPr>
          <a:xfrm>
            <a:off x="4373575" y="1645920"/>
            <a:ext cx="7223760" cy="4464685"/>
          </a:xfrm>
          <a:prstGeom prst="rect">
            <a:avLst/>
          </a:prstGeom>
          <a:ln w="9525">
            <a:solidFill>
              <a:srgbClr val="D5CCBF"/>
            </a:solidFill>
            <a:prstDash val="solid"/>
          </a:ln>
        </p:spPr>
      </p:sp>
      <p:sp>
        <p:nvSpPr>
          <p:cNvPr id="18" name="Text 15"/>
          <p:cNvSpPr txBox="1"/>
          <p:nvPr/>
        </p:nvSpPr>
        <p:spPr>
          <a:xfrm>
            <a:off x="6755587" y="1825538"/>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1</a:t>
            </a:r>
            <a:endParaRPr lang="en-US" sz="1100" dirty="0"/>
          </a:p>
        </p:txBody>
      </p:sp>
      <p:sp>
        <p:nvSpPr>
          <p:cNvPr id="19" name="Text 16"/>
          <p:cNvSpPr txBox="1"/>
          <p:nvPr/>
        </p:nvSpPr>
        <p:spPr>
          <a:xfrm>
            <a:off x="9551182" y="2030914"/>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2</a:t>
            </a:r>
            <a:endParaRPr lang="en-US" sz="1100" dirty="0"/>
          </a:p>
        </p:txBody>
      </p:sp>
      <p:sp>
        <p:nvSpPr>
          <p:cNvPr id="20" name="Text 17"/>
          <p:cNvSpPr txBox="1"/>
          <p:nvPr/>
        </p:nvSpPr>
        <p:spPr>
          <a:xfrm>
            <a:off x="5404744" y="2124672"/>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3</a:t>
            </a:r>
            <a:endParaRPr lang="en-US" sz="1100" dirty="0"/>
          </a:p>
        </p:txBody>
      </p:sp>
      <p:sp>
        <p:nvSpPr>
          <p:cNvPr id="21" name="Text 18"/>
          <p:cNvSpPr txBox="1"/>
          <p:nvPr/>
        </p:nvSpPr>
        <p:spPr>
          <a:xfrm>
            <a:off x="5924855" y="1986267"/>
            <a:ext cx="292608" cy="292608"/>
          </a:xfrm>
          <a:prstGeom prst="ellipse">
            <a:avLst/>
          </a:prstGeom>
          <a:solidFill>
            <a:srgbClr val="E8B36B"/>
          </a:solidFill>
          <a:ln w="9525">
            <a:solidFill>
              <a:srgbClr val="1C1A17"/>
            </a:solidFill>
          </a:ln>
        </p:spPr>
        <p:txBody>
          <a:bodyPr wrap="square" lIns="0" tIns="0" rIns="0" bIns="0" rtlCol="0" anchor="ctr"/>
          <a:lstStyle/>
          <a:p>
            <a:pPr algn="ctr" indent="0" marL="0">
              <a:buNone/>
            </a:pPr>
            <a:r>
              <a:rPr lang="en-US" sz="1100" b="1" dirty="0">
                <a:solidFill>
                  <a:srgbClr val="1C1A17"/>
                </a:solidFill>
                <a:latin typeface="Georgia" pitchFamily="34" charset="0"/>
                <a:ea typeface="Georgia" pitchFamily="34" charset="-122"/>
                <a:cs typeface="Georgia" pitchFamily="34" charset="-120"/>
              </a:rPr>
              <a:t>4</a:t>
            </a:r>
            <a:endParaRPr lang="en-US" sz="1100" dirty="0"/>
          </a:p>
        </p:txBody>
      </p:sp>
      <p:sp>
        <p:nvSpPr>
          <p:cNvPr id="22" name="Text 19"/>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23" name="Text 20"/>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148132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HOW IT WORKS</a:t>
            </a:r>
            <a:endParaRPr lang="en-US" sz="900" dirty="0"/>
          </a:p>
        </p:txBody>
      </p:sp>
      <p:sp>
        <p:nvSpPr>
          <p:cNvPr id="3" name="Text 1"/>
          <p:cNvSpPr txBox="1"/>
          <p:nvPr/>
        </p:nvSpPr>
        <p:spPr>
          <a:xfrm>
            <a:off x="594360" y="868680"/>
            <a:ext cx="11002975" cy="640080"/>
          </a:xfrm>
          <a:prstGeom prst="rect">
            <a:avLst/>
          </a:prstGeom>
          <a:noFill/>
          <a:ln/>
        </p:spPr>
        <p:txBody>
          <a:bodyPr wrap="square" lIns="0" tIns="0" rIns="0" bIns="0" rtlCol="0" anchor="t"/>
          <a:lstStyle/>
          <a:p>
            <a:pPr algn="l" indent="0" marL="0">
              <a:lnSpc>
                <a:spcPct val="105000"/>
              </a:lnSpc>
              <a:buNone/>
            </a:pPr>
            <a:r>
              <a:rPr lang="en-US" sz="3200" dirty="0">
                <a:solidFill>
                  <a:srgbClr val="1C1A17"/>
                </a:solidFill>
                <a:latin typeface="Georgia" pitchFamily="34" charset="0"/>
                <a:ea typeface="Georgia" pitchFamily="34" charset="-122"/>
                <a:cs typeface="Georgia" pitchFamily="34" charset="-120"/>
              </a:rPr>
              <a:t>One engine, three ways in, any model provider.</a:t>
            </a:r>
            <a:endParaRPr lang="en-US" sz="3200" dirty="0"/>
          </a:p>
        </p:txBody>
      </p:sp>
      <p:sp>
        <p:nvSpPr>
          <p:cNvPr id="4" name="Text 2"/>
          <p:cNvSpPr txBox="1"/>
          <p:nvPr/>
        </p:nvSpPr>
        <p:spPr>
          <a:xfrm>
            <a:off x="594360" y="1627632"/>
            <a:ext cx="1874520" cy="310896"/>
          </a:xfrm>
          <a:prstGeom prst="rect">
            <a:avLst/>
          </a:prstGeom>
          <a:noFill/>
          <a:ln/>
        </p:spPr>
        <p:txBody>
          <a:bodyPr wrap="square" lIns="0" tIns="0" rIns="0" bIns="0" rtlCol="0" anchor="t"/>
          <a:lstStyle/>
          <a:p>
            <a:pPr algn="l" indent="0" marL="0">
              <a:buNone/>
            </a:pPr>
            <a:r>
              <a:rPr lang="en-US" sz="1500" dirty="0">
                <a:solidFill>
                  <a:srgbClr val="1C1A17"/>
                </a:solidFill>
                <a:latin typeface="Georgia" pitchFamily="34" charset="0"/>
                <a:ea typeface="Georgia" pitchFamily="34" charset="-122"/>
                <a:cs typeface="Georgia" pitchFamily="34" charset="-120"/>
              </a:rPr>
              <a:t>Clients</a:t>
            </a:r>
            <a:endParaRPr lang="en-US" sz="1500" dirty="0"/>
          </a:p>
        </p:txBody>
      </p:sp>
      <p:sp>
        <p:nvSpPr>
          <p:cNvPr id="5" name="Text 3"/>
          <p:cNvSpPr txBox="1"/>
          <p:nvPr/>
        </p:nvSpPr>
        <p:spPr>
          <a:xfrm>
            <a:off x="594360" y="1938528"/>
            <a:ext cx="1783080" cy="365760"/>
          </a:xfrm>
          <a:prstGeom prst="rect">
            <a:avLst/>
          </a:prstGeom>
          <a:noFill/>
          <a:ln/>
        </p:spPr>
        <p:txBody>
          <a:bodyPr wrap="square" lIns="0" tIns="0" rIns="0" bIns="0" rtlCol="0" anchor="t"/>
          <a:lstStyle/>
          <a:p>
            <a:pPr algn="l" indent="0" marL="0">
              <a:lnSpc>
                <a:spcPct val="110000"/>
              </a:lnSpc>
              <a:buNone/>
            </a:pPr>
            <a:r>
              <a:rPr lang="en-US" sz="900" dirty="0">
                <a:solidFill>
                  <a:srgbClr val="8A8377"/>
                </a:solidFill>
                <a:latin typeface="Arial" pitchFamily="34" charset="0"/>
                <a:ea typeface="Arial" pitchFamily="34" charset="-122"/>
                <a:cs typeface="Arial" pitchFamily="34" charset="-120"/>
              </a:rPr>
              <a:t>React 19 · Vite · runs fully in-browser in standalone mode</a:t>
            </a:r>
            <a:endParaRPr lang="en-US" sz="900" dirty="0"/>
          </a:p>
        </p:txBody>
      </p:sp>
      <p:sp>
        <p:nvSpPr>
          <p:cNvPr id="6" name="Shape 4"/>
          <p:cNvSpPr/>
          <p:nvPr/>
        </p:nvSpPr>
        <p:spPr>
          <a:xfrm>
            <a:off x="2606040" y="1536192"/>
            <a:ext cx="1710477" cy="822960"/>
          </a:xfrm>
          <a:prstGeom prst="roundRect">
            <a:avLst>
              <a:gd name="adj" fmla="val 8889"/>
            </a:avLst>
          </a:prstGeom>
          <a:solidFill>
            <a:srgbClr val="FFFFFF"/>
          </a:solidFill>
          <a:ln w="9525">
            <a:solidFill>
              <a:srgbClr val="E3DCD1"/>
            </a:solidFill>
            <a:prstDash val="solid"/>
          </a:ln>
        </p:spPr>
      </p:sp>
      <p:sp>
        <p:nvSpPr>
          <p:cNvPr id="7" name="Text 5"/>
          <p:cNvSpPr txBox="1"/>
          <p:nvPr/>
        </p:nvSpPr>
        <p:spPr>
          <a:xfrm>
            <a:off x="2734056" y="1627632"/>
            <a:ext cx="1454445"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Interview room</a:t>
            </a:r>
            <a:endParaRPr lang="en-US" sz="1100" dirty="0"/>
          </a:p>
        </p:txBody>
      </p:sp>
      <p:sp>
        <p:nvSpPr>
          <p:cNvPr id="8" name="Text 6"/>
          <p:cNvSpPr txBox="1"/>
          <p:nvPr/>
        </p:nvSpPr>
        <p:spPr>
          <a:xfrm>
            <a:off x="2734056" y="1883664"/>
            <a:ext cx="1454445"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Voice orb, live transcript, atoms</a:t>
            </a:r>
            <a:endParaRPr lang="en-US" sz="950" dirty="0"/>
          </a:p>
        </p:txBody>
      </p:sp>
      <p:sp>
        <p:nvSpPr>
          <p:cNvPr id="9" name="Shape 7"/>
          <p:cNvSpPr/>
          <p:nvPr/>
        </p:nvSpPr>
        <p:spPr>
          <a:xfrm>
            <a:off x="4426245" y="1536192"/>
            <a:ext cx="1710477" cy="822960"/>
          </a:xfrm>
          <a:prstGeom prst="roundRect">
            <a:avLst>
              <a:gd name="adj" fmla="val 8889"/>
            </a:avLst>
          </a:prstGeom>
          <a:solidFill>
            <a:srgbClr val="FFFFFF"/>
          </a:solidFill>
          <a:ln w="9525">
            <a:solidFill>
              <a:srgbClr val="E3DCD1"/>
            </a:solidFill>
            <a:prstDash val="solid"/>
          </a:ln>
        </p:spPr>
      </p:sp>
      <p:sp>
        <p:nvSpPr>
          <p:cNvPr id="10" name="Text 8"/>
          <p:cNvSpPr txBox="1"/>
          <p:nvPr/>
        </p:nvSpPr>
        <p:spPr>
          <a:xfrm>
            <a:off x="4554261" y="1627632"/>
            <a:ext cx="1454445"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Ask the twin</a:t>
            </a:r>
            <a:endParaRPr lang="en-US" sz="1100" dirty="0"/>
          </a:p>
        </p:txBody>
      </p:sp>
      <p:sp>
        <p:nvSpPr>
          <p:cNvPr id="11" name="Text 9"/>
          <p:cNvSpPr txBox="1"/>
          <p:nvPr/>
        </p:nvSpPr>
        <p:spPr>
          <a:xfrm>
            <a:off x="4554261" y="1883664"/>
            <a:ext cx="1454445"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Cited answers, cloned voice</a:t>
            </a:r>
            <a:endParaRPr lang="en-US" sz="950" dirty="0"/>
          </a:p>
        </p:txBody>
      </p:sp>
      <p:sp>
        <p:nvSpPr>
          <p:cNvPr id="12" name="Shape 10"/>
          <p:cNvSpPr/>
          <p:nvPr/>
        </p:nvSpPr>
        <p:spPr>
          <a:xfrm>
            <a:off x="6246449" y="1536192"/>
            <a:ext cx="1710477" cy="822960"/>
          </a:xfrm>
          <a:prstGeom prst="roundRect">
            <a:avLst>
              <a:gd name="adj" fmla="val 8889"/>
            </a:avLst>
          </a:prstGeom>
          <a:solidFill>
            <a:srgbClr val="FFFFFF"/>
          </a:solidFill>
          <a:ln w="9525">
            <a:solidFill>
              <a:srgbClr val="E3DCD1"/>
            </a:solidFill>
            <a:prstDash val="solid"/>
          </a:ln>
        </p:spPr>
      </p:sp>
      <p:sp>
        <p:nvSpPr>
          <p:cNvPr id="13" name="Text 11"/>
          <p:cNvSpPr txBox="1"/>
          <p:nvPr/>
        </p:nvSpPr>
        <p:spPr>
          <a:xfrm>
            <a:off x="6374465" y="1627632"/>
            <a:ext cx="1454445"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Knowledge base</a:t>
            </a:r>
            <a:endParaRPr lang="en-US" sz="1100" dirty="0"/>
          </a:p>
        </p:txBody>
      </p:sp>
      <p:sp>
        <p:nvSpPr>
          <p:cNvPr id="14" name="Text 12"/>
          <p:cNvSpPr txBox="1"/>
          <p:nvPr/>
        </p:nvSpPr>
        <p:spPr>
          <a:xfrm>
            <a:off x="6374465" y="1883664"/>
            <a:ext cx="1454445"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Search, verify, edit atoms</a:t>
            </a:r>
            <a:endParaRPr lang="en-US" sz="950" dirty="0"/>
          </a:p>
        </p:txBody>
      </p:sp>
      <p:sp>
        <p:nvSpPr>
          <p:cNvPr id="15" name="Shape 13"/>
          <p:cNvSpPr/>
          <p:nvPr/>
        </p:nvSpPr>
        <p:spPr>
          <a:xfrm>
            <a:off x="8066654" y="1536192"/>
            <a:ext cx="1710477" cy="822960"/>
          </a:xfrm>
          <a:prstGeom prst="roundRect">
            <a:avLst>
              <a:gd name="adj" fmla="val 8889"/>
            </a:avLst>
          </a:prstGeom>
          <a:solidFill>
            <a:srgbClr val="FFFFFF"/>
          </a:solidFill>
          <a:ln w="9525">
            <a:solidFill>
              <a:srgbClr val="E3DCD1"/>
            </a:solidFill>
            <a:prstDash val="solid"/>
          </a:ln>
        </p:spPr>
      </p:sp>
      <p:sp>
        <p:nvSpPr>
          <p:cNvPr id="16" name="Text 14"/>
          <p:cNvSpPr txBox="1"/>
          <p:nvPr/>
        </p:nvSpPr>
        <p:spPr>
          <a:xfrm>
            <a:off x="8194670" y="1627632"/>
            <a:ext cx="1454445"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Handover doc</a:t>
            </a:r>
            <a:endParaRPr lang="en-US" sz="1100" dirty="0"/>
          </a:p>
        </p:txBody>
      </p:sp>
      <p:sp>
        <p:nvSpPr>
          <p:cNvPr id="17" name="Text 15"/>
          <p:cNvSpPr txBox="1"/>
          <p:nvPr/>
        </p:nvSpPr>
        <p:spPr>
          <a:xfrm>
            <a:off x="8194670" y="1883664"/>
            <a:ext cx="1454445"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Markdown → Confluence, Notion, PDF</a:t>
            </a:r>
            <a:endParaRPr lang="en-US" sz="950" dirty="0"/>
          </a:p>
        </p:txBody>
      </p:sp>
      <p:sp>
        <p:nvSpPr>
          <p:cNvPr id="18" name="Shape 16"/>
          <p:cNvSpPr/>
          <p:nvPr/>
        </p:nvSpPr>
        <p:spPr>
          <a:xfrm>
            <a:off x="9886859" y="1536192"/>
            <a:ext cx="1710477" cy="822960"/>
          </a:xfrm>
          <a:prstGeom prst="roundRect">
            <a:avLst>
              <a:gd name="adj" fmla="val 8889"/>
            </a:avLst>
          </a:prstGeom>
          <a:solidFill>
            <a:srgbClr val="FFFFFF"/>
          </a:solidFill>
          <a:ln w="9525">
            <a:solidFill>
              <a:srgbClr val="E3DCD1"/>
            </a:solidFill>
            <a:prstDash val="solid"/>
          </a:ln>
        </p:spPr>
      </p:sp>
      <p:sp>
        <p:nvSpPr>
          <p:cNvPr id="19" name="Text 17"/>
          <p:cNvSpPr txBox="1"/>
          <p:nvPr/>
        </p:nvSpPr>
        <p:spPr>
          <a:xfrm>
            <a:off x="10014875" y="1627632"/>
            <a:ext cx="1454445"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Dashboard</a:t>
            </a:r>
            <a:endParaRPr lang="en-US" sz="1100" dirty="0"/>
          </a:p>
        </p:txBody>
      </p:sp>
      <p:sp>
        <p:nvSpPr>
          <p:cNvPr id="20" name="Text 18"/>
          <p:cNvSpPr txBox="1"/>
          <p:nvPr/>
        </p:nvSpPr>
        <p:spPr>
          <a:xfrm>
            <a:off x="10014875" y="1883664"/>
            <a:ext cx="1454445"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Experts at risk, open questions</a:t>
            </a:r>
            <a:endParaRPr lang="en-US" sz="950" dirty="0"/>
          </a:p>
        </p:txBody>
      </p:sp>
      <p:sp>
        <p:nvSpPr>
          <p:cNvPr id="21" name="Text 19"/>
          <p:cNvSpPr txBox="1"/>
          <p:nvPr/>
        </p:nvSpPr>
        <p:spPr>
          <a:xfrm>
            <a:off x="594360" y="2560320"/>
            <a:ext cx="1874520" cy="310896"/>
          </a:xfrm>
          <a:prstGeom prst="rect">
            <a:avLst/>
          </a:prstGeom>
          <a:noFill/>
          <a:ln/>
        </p:spPr>
        <p:txBody>
          <a:bodyPr wrap="square" lIns="0" tIns="0" rIns="0" bIns="0" rtlCol="0" anchor="t"/>
          <a:lstStyle/>
          <a:p>
            <a:pPr algn="l" indent="0" marL="0">
              <a:buNone/>
            </a:pPr>
            <a:r>
              <a:rPr lang="en-US" sz="1500" dirty="0">
                <a:solidFill>
                  <a:srgbClr val="1C1A17"/>
                </a:solidFill>
                <a:latin typeface="Georgia" pitchFamily="34" charset="0"/>
                <a:ea typeface="Georgia" pitchFamily="34" charset="-122"/>
                <a:cs typeface="Georgia" pitchFamily="34" charset="-120"/>
              </a:rPr>
              <a:t>Voice &amp; telephony</a:t>
            </a:r>
            <a:endParaRPr lang="en-US" sz="1500" dirty="0"/>
          </a:p>
        </p:txBody>
      </p:sp>
      <p:sp>
        <p:nvSpPr>
          <p:cNvPr id="22" name="Text 20"/>
          <p:cNvSpPr txBox="1"/>
          <p:nvPr/>
        </p:nvSpPr>
        <p:spPr>
          <a:xfrm>
            <a:off x="594360" y="2871216"/>
            <a:ext cx="1783080" cy="365760"/>
          </a:xfrm>
          <a:prstGeom prst="rect">
            <a:avLst/>
          </a:prstGeom>
          <a:noFill/>
          <a:ln/>
        </p:spPr>
        <p:txBody>
          <a:bodyPr wrap="square" lIns="0" tIns="0" rIns="0" bIns="0" rtlCol="0" anchor="t"/>
          <a:lstStyle/>
          <a:p>
            <a:pPr algn="l" indent="0" marL="0">
              <a:lnSpc>
                <a:spcPct val="110000"/>
              </a:lnSpc>
              <a:buNone/>
            </a:pPr>
            <a:r>
              <a:rPr lang="en-US" sz="900" dirty="0">
                <a:solidFill>
                  <a:srgbClr val="8A8377"/>
                </a:solidFill>
                <a:latin typeface="Arial" pitchFamily="34" charset="0"/>
                <a:ea typeface="Arial" pitchFamily="34" charset="-122"/>
                <a:cs typeface="Arial" pitchFamily="34" charset="-120"/>
              </a:rPr>
              <a:t>Boson AI partner tech · Twilio + LiveKit</a:t>
            </a:r>
            <a:endParaRPr lang="en-US" sz="900" dirty="0"/>
          </a:p>
        </p:txBody>
      </p:sp>
      <p:sp>
        <p:nvSpPr>
          <p:cNvPr id="23" name="Shape 21"/>
          <p:cNvSpPr/>
          <p:nvPr/>
        </p:nvSpPr>
        <p:spPr>
          <a:xfrm>
            <a:off x="2606040" y="2468880"/>
            <a:ext cx="2923946" cy="822960"/>
          </a:xfrm>
          <a:prstGeom prst="roundRect">
            <a:avLst>
              <a:gd name="adj" fmla="val 8889"/>
            </a:avLst>
          </a:prstGeom>
          <a:solidFill>
            <a:srgbClr val="FFFFFF"/>
          </a:solidFill>
          <a:ln w="9525">
            <a:solidFill>
              <a:srgbClr val="E3DCD1"/>
            </a:solidFill>
            <a:prstDash val="solid"/>
          </a:ln>
        </p:spPr>
      </p:sp>
      <p:sp>
        <p:nvSpPr>
          <p:cNvPr id="24" name="Text 22"/>
          <p:cNvSpPr txBox="1"/>
          <p:nvPr/>
        </p:nvSpPr>
        <p:spPr>
          <a:xfrm>
            <a:off x="2734056" y="2560320"/>
            <a:ext cx="2100986"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Boson Higgs Realtime</a:t>
            </a:r>
            <a:endParaRPr lang="en-US" sz="1100" dirty="0"/>
          </a:p>
        </p:txBody>
      </p:sp>
      <p:sp>
        <p:nvSpPr>
          <p:cNvPr id="25" name="Text 23"/>
          <p:cNvSpPr txBox="1"/>
          <p:nvPr/>
        </p:nvSpPr>
        <p:spPr>
          <a:xfrm>
            <a:off x="2734056" y="2816352"/>
            <a:ext cx="266791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Speech-to-speech, barge-in, ~0.7 s</a:t>
            </a:r>
            <a:endParaRPr lang="en-US" sz="950" dirty="0"/>
          </a:p>
        </p:txBody>
      </p:sp>
      <p:sp>
        <p:nvSpPr>
          <p:cNvPr id="26" name="Text 24"/>
          <p:cNvSpPr txBox="1"/>
          <p:nvPr/>
        </p:nvSpPr>
        <p:spPr>
          <a:xfrm>
            <a:off x="4835042" y="2560320"/>
            <a:ext cx="566928" cy="182880"/>
          </a:xfrm>
          <a:prstGeom prst="roundRect">
            <a:avLst>
              <a:gd name="adj" fmla="val 50000"/>
            </a:avLst>
          </a:prstGeom>
          <a:solidFill>
            <a:srgbClr val="F7E8CC"/>
          </a:solidFill>
          <a:ln/>
        </p:spPr>
        <p:txBody>
          <a:bodyPr wrap="square" lIns="0" tIns="0" rIns="0" bIns="0" rtlCol="0" anchor="ctr"/>
          <a:lstStyle/>
          <a:p>
            <a:pPr algn="ctr" indent="0" marL="0">
              <a:buNone/>
            </a:pPr>
            <a:r>
              <a:rPr lang="en-US" sz="750" b="1" spc="50" kern="0" dirty="0">
                <a:solidFill>
                  <a:srgbClr val="9A5A14"/>
                </a:solidFill>
                <a:latin typeface="Arial" pitchFamily="34" charset="0"/>
                <a:ea typeface="Arial" pitchFamily="34" charset="-122"/>
                <a:cs typeface="Arial" pitchFamily="34" charset="-120"/>
              </a:rPr>
              <a:t>partner</a:t>
            </a:r>
            <a:endParaRPr lang="en-US" sz="750" dirty="0"/>
          </a:p>
        </p:txBody>
      </p:sp>
      <p:sp>
        <p:nvSpPr>
          <p:cNvPr id="27" name="Shape 25"/>
          <p:cNvSpPr/>
          <p:nvPr/>
        </p:nvSpPr>
        <p:spPr>
          <a:xfrm>
            <a:off x="5639714" y="2468880"/>
            <a:ext cx="2923946" cy="822960"/>
          </a:xfrm>
          <a:prstGeom prst="roundRect">
            <a:avLst>
              <a:gd name="adj" fmla="val 8889"/>
            </a:avLst>
          </a:prstGeom>
          <a:solidFill>
            <a:srgbClr val="FFFFFF"/>
          </a:solidFill>
          <a:ln w="9525">
            <a:solidFill>
              <a:srgbClr val="E3DCD1"/>
            </a:solidFill>
            <a:prstDash val="solid"/>
          </a:ln>
        </p:spPr>
      </p:sp>
      <p:sp>
        <p:nvSpPr>
          <p:cNvPr id="28" name="Text 26"/>
          <p:cNvSpPr txBox="1"/>
          <p:nvPr/>
        </p:nvSpPr>
        <p:spPr>
          <a:xfrm>
            <a:off x="5767730" y="2560320"/>
            <a:ext cx="2100986"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Boson Higgs Audio</a:t>
            </a:r>
            <a:endParaRPr lang="en-US" sz="1100" dirty="0"/>
          </a:p>
        </p:txBody>
      </p:sp>
      <p:sp>
        <p:nvSpPr>
          <p:cNvPr id="29" name="Text 27"/>
          <p:cNvSpPr txBox="1"/>
          <p:nvPr/>
        </p:nvSpPr>
        <p:spPr>
          <a:xfrm>
            <a:off x="5767730" y="2816352"/>
            <a:ext cx="266791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TTS + voice clone from a short reference clip</a:t>
            </a:r>
            <a:endParaRPr lang="en-US" sz="950" dirty="0"/>
          </a:p>
        </p:txBody>
      </p:sp>
      <p:sp>
        <p:nvSpPr>
          <p:cNvPr id="30" name="Text 28"/>
          <p:cNvSpPr txBox="1"/>
          <p:nvPr/>
        </p:nvSpPr>
        <p:spPr>
          <a:xfrm>
            <a:off x="7868717" y="2560320"/>
            <a:ext cx="566928" cy="182880"/>
          </a:xfrm>
          <a:prstGeom prst="roundRect">
            <a:avLst>
              <a:gd name="adj" fmla="val 50000"/>
            </a:avLst>
          </a:prstGeom>
          <a:solidFill>
            <a:srgbClr val="F7E8CC"/>
          </a:solidFill>
          <a:ln/>
        </p:spPr>
        <p:txBody>
          <a:bodyPr wrap="square" lIns="0" tIns="0" rIns="0" bIns="0" rtlCol="0" anchor="ctr"/>
          <a:lstStyle/>
          <a:p>
            <a:pPr algn="ctr" indent="0" marL="0">
              <a:buNone/>
            </a:pPr>
            <a:r>
              <a:rPr lang="en-US" sz="750" b="1" spc="50" kern="0" dirty="0">
                <a:solidFill>
                  <a:srgbClr val="9A5A14"/>
                </a:solidFill>
                <a:latin typeface="Arial" pitchFamily="34" charset="0"/>
                <a:ea typeface="Arial" pitchFamily="34" charset="-122"/>
                <a:cs typeface="Arial" pitchFamily="34" charset="-120"/>
              </a:rPr>
              <a:t>partner</a:t>
            </a:r>
            <a:endParaRPr lang="en-US" sz="750" dirty="0"/>
          </a:p>
        </p:txBody>
      </p:sp>
      <p:sp>
        <p:nvSpPr>
          <p:cNvPr id="31" name="Shape 29"/>
          <p:cNvSpPr/>
          <p:nvPr/>
        </p:nvSpPr>
        <p:spPr>
          <a:xfrm>
            <a:off x="8673389" y="2468880"/>
            <a:ext cx="2923946" cy="822960"/>
          </a:xfrm>
          <a:prstGeom prst="roundRect">
            <a:avLst>
              <a:gd name="adj" fmla="val 8889"/>
            </a:avLst>
          </a:prstGeom>
          <a:solidFill>
            <a:srgbClr val="FFFFFF"/>
          </a:solidFill>
          <a:ln w="9525">
            <a:solidFill>
              <a:srgbClr val="E3DCD1"/>
            </a:solidFill>
            <a:prstDash val="solid"/>
          </a:ln>
        </p:spPr>
      </p:sp>
      <p:sp>
        <p:nvSpPr>
          <p:cNvPr id="32" name="Text 30"/>
          <p:cNvSpPr txBox="1"/>
          <p:nvPr/>
        </p:nvSpPr>
        <p:spPr>
          <a:xfrm>
            <a:off x="8801405" y="2560320"/>
            <a:ext cx="2667914"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Phone interviews</a:t>
            </a:r>
            <a:endParaRPr lang="en-US" sz="1100" dirty="0"/>
          </a:p>
        </p:txBody>
      </p:sp>
      <p:sp>
        <p:nvSpPr>
          <p:cNvPr id="33" name="Text 31"/>
          <p:cNvSpPr txBox="1"/>
          <p:nvPr/>
        </p:nvSpPr>
        <p:spPr>
          <a:xfrm>
            <a:off x="8801405" y="2816352"/>
            <a:ext cx="266791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Twilio SIP → LiveKit → interviewer agent</a:t>
            </a:r>
            <a:endParaRPr lang="en-US" sz="950" dirty="0"/>
          </a:p>
        </p:txBody>
      </p:sp>
      <p:sp>
        <p:nvSpPr>
          <p:cNvPr id="34" name="Text 32"/>
          <p:cNvSpPr txBox="1"/>
          <p:nvPr/>
        </p:nvSpPr>
        <p:spPr>
          <a:xfrm>
            <a:off x="594360" y="3493008"/>
            <a:ext cx="1874520" cy="310896"/>
          </a:xfrm>
          <a:prstGeom prst="rect">
            <a:avLst/>
          </a:prstGeom>
          <a:noFill/>
          <a:ln/>
        </p:spPr>
        <p:txBody>
          <a:bodyPr wrap="square" lIns="0" tIns="0" rIns="0" bIns="0" rtlCol="0" anchor="t"/>
          <a:lstStyle/>
          <a:p>
            <a:pPr algn="l" indent="0" marL="0">
              <a:buNone/>
            </a:pPr>
            <a:r>
              <a:rPr lang="en-US" sz="1500" dirty="0">
                <a:solidFill>
                  <a:srgbClr val="1C1A17"/>
                </a:solidFill>
                <a:latin typeface="Georgia" pitchFamily="34" charset="0"/>
                <a:ea typeface="Georgia" pitchFamily="34" charset="-122"/>
                <a:cs typeface="Georgia" pitchFamily="34" charset="-120"/>
              </a:rPr>
              <a:t>Tacit API</a:t>
            </a:r>
            <a:endParaRPr lang="en-US" sz="1500" dirty="0"/>
          </a:p>
        </p:txBody>
      </p:sp>
      <p:sp>
        <p:nvSpPr>
          <p:cNvPr id="35" name="Text 33"/>
          <p:cNvSpPr txBox="1"/>
          <p:nvPr/>
        </p:nvSpPr>
        <p:spPr>
          <a:xfrm>
            <a:off x="594360" y="3803904"/>
            <a:ext cx="1783080" cy="365760"/>
          </a:xfrm>
          <a:prstGeom prst="rect">
            <a:avLst/>
          </a:prstGeom>
          <a:noFill/>
          <a:ln/>
        </p:spPr>
        <p:txBody>
          <a:bodyPr wrap="square" lIns="0" tIns="0" rIns="0" bIns="0" rtlCol="0" anchor="t"/>
          <a:lstStyle/>
          <a:p>
            <a:pPr algn="l" indent="0" marL="0">
              <a:lnSpc>
                <a:spcPct val="110000"/>
              </a:lnSpc>
              <a:buNone/>
            </a:pPr>
            <a:r>
              <a:rPr lang="en-US" sz="900" dirty="0">
                <a:solidFill>
                  <a:srgbClr val="8A8377"/>
                </a:solidFill>
                <a:latin typeface="Arial" pitchFamily="34" charset="0"/>
                <a:ea typeface="Arial" pitchFamily="34" charset="-122"/>
                <a:cs typeface="Arial" pitchFamily="34" charset="-120"/>
              </a:rPr>
              <a:t>Hono on Node 22 · SQLite</a:t>
            </a:r>
            <a:endParaRPr lang="en-US" sz="900" dirty="0"/>
          </a:p>
        </p:txBody>
      </p:sp>
      <p:sp>
        <p:nvSpPr>
          <p:cNvPr id="36" name="Shape 34"/>
          <p:cNvSpPr/>
          <p:nvPr/>
        </p:nvSpPr>
        <p:spPr>
          <a:xfrm>
            <a:off x="2606040" y="3401568"/>
            <a:ext cx="2165528" cy="822960"/>
          </a:xfrm>
          <a:prstGeom prst="roundRect">
            <a:avLst>
              <a:gd name="adj" fmla="val 8889"/>
            </a:avLst>
          </a:prstGeom>
          <a:solidFill>
            <a:srgbClr val="FFFFFF"/>
          </a:solidFill>
          <a:ln w="9525">
            <a:solidFill>
              <a:srgbClr val="E3DCD1"/>
            </a:solidFill>
            <a:prstDash val="solid"/>
          </a:ln>
        </p:spPr>
      </p:sp>
      <p:sp>
        <p:nvSpPr>
          <p:cNvPr id="37" name="Text 35"/>
          <p:cNvSpPr txBox="1"/>
          <p:nvPr/>
        </p:nvSpPr>
        <p:spPr>
          <a:xfrm>
            <a:off x="2734056" y="3493008"/>
            <a:ext cx="1909496"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REST</a:t>
            </a:r>
            <a:endParaRPr lang="en-US" sz="1100" dirty="0"/>
          </a:p>
        </p:txBody>
      </p:sp>
      <p:sp>
        <p:nvSpPr>
          <p:cNvPr id="38" name="Text 36"/>
          <p:cNvSpPr txBox="1"/>
          <p:nvPr/>
        </p:nvSpPr>
        <p:spPr>
          <a:xfrm>
            <a:off x="2734056" y="3749040"/>
            <a:ext cx="1909496"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captures · sessions · atoms · ask · handover · voice · phone</a:t>
            </a:r>
            <a:endParaRPr lang="en-US" sz="950" dirty="0"/>
          </a:p>
        </p:txBody>
      </p:sp>
      <p:sp>
        <p:nvSpPr>
          <p:cNvPr id="39" name="Shape 37"/>
          <p:cNvSpPr/>
          <p:nvPr/>
        </p:nvSpPr>
        <p:spPr>
          <a:xfrm>
            <a:off x="4881296" y="3401568"/>
            <a:ext cx="2165528" cy="822960"/>
          </a:xfrm>
          <a:prstGeom prst="roundRect">
            <a:avLst>
              <a:gd name="adj" fmla="val 8889"/>
            </a:avLst>
          </a:prstGeom>
          <a:solidFill>
            <a:srgbClr val="FFFFFF"/>
          </a:solidFill>
          <a:ln w="9525">
            <a:solidFill>
              <a:srgbClr val="E3DCD1"/>
            </a:solidFill>
            <a:prstDash val="solid"/>
          </a:ln>
        </p:spPr>
      </p:sp>
      <p:sp>
        <p:nvSpPr>
          <p:cNvPr id="40" name="Text 38"/>
          <p:cNvSpPr txBox="1"/>
          <p:nvPr/>
        </p:nvSpPr>
        <p:spPr>
          <a:xfrm>
            <a:off x="5009312" y="3493008"/>
            <a:ext cx="1909496"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Provider auto-detection</a:t>
            </a:r>
            <a:endParaRPr lang="en-US" sz="1100" dirty="0"/>
          </a:p>
        </p:txBody>
      </p:sp>
      <p:sp>
        <p:nvSpPr>
          <p:cNvPr id="41" name="Text 39"/>
          <p:cNvSpPr txBox="1"/>
          <p:nvPr/>
        </p:nvSpPr>
        <p:spPr>
          <a:xfrm>
            <a:off x="5009312" y="3749040"/>
            <a:ext cx="1909496"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Nebius, OpenAI, Anthropic, Ollama — never blocks the demo</a:t>
            </a:r>
            <a:endParaRPr lang="en-US" sz="950" dirty="0"/>
          </a:p>
        </p:txBody>
      </p:sp>
      <p:sp>
        <p:nvSpPr>
          <p:cNvPr id="42" name="Shape 40"/>
          <p:cNvSpPr/>
          <p:nvPr/>
        </p:nvSpPr>
        <p:spPr>
          <a:xfrm>
            <a:off x="7156552" y="3401568"/>
            <a:ext cx="2165528" cy="822960"/>
          </a:xfrm>
          <a:prstGeom prst="roundRect">
            <a:avLst>
              <a:gd name="adj" fmla="val 8889"/>
            </a:avLst>
          </a:prstGeom>
          <a:solidFill>
            <a:srgbClr val="FFFFFF"/>
          </a:solidFill>
          <a:ln w="9525">
            <a:solidFill>
              <a:srgbClr val="E3DCD1"/>
            </a:solidFill>
            <a:prstDash val="solid"/>
          </a:ln>
        </p:spPr>
      </p:sp>
      <p:sp>
        <p:nvSpPr>
          <p:cNvPr id="43" name="Text 41"/>
          <p:cNvSpPr txBox="1"/>
          <p:nvPr/>
        </p:nvSpPr>
        <p:spPr>
          <a:xfrm>
            <a:off x="7284568" y="3493008"/>
            <a:ext cx="1909496"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SQLite store</a:t>
            </a:r>
            <a:endParaRPr lang="en-US" sz="1100" dirty="0"/>
          </a:p>
        </p:txBody>
      </p:sp>
      <p:sp>
        <p:nvSpPr>
          <p:cNvPr id="44" name="Text 42"/>
          <p:cNvSpPr txBox="1"/>
          <p:nvPr/>
        </p:nvSpPr>
        <p:spPr>
          <a:xfrm>
            <a:off x="7284568" y="3749040"/>
            <a:ext cx="1909496"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node:sqlite · JSON docs, indexed columns, vectors</a:t>
            </a:r>
            <a:endParaRPr lang="en-US" sz="950" dirty="0"/>
          </a:p>
        </p:txBody>
      </p:sp>
      <p:sp>
        <p:nvSpPr>
          <p:cNvPr id="45" name="Shape 43"/>
          <p:cNvSpPr/>
          <p:nvPr/>
        </p:nvSpPr>
        <p:spPr>
          <a:xfrm>
            <a:off x="9431807" y="3401568"/>
            <a:ext cx="2165528" cy="822960"/>
          </a:xfrm>
          <a:prstGeom prst="roundRect">
            <a:avLst>
              <a:gd name="adj" fmla="val 8889"/>
            </a:avLst>
          </a:prstGeom>
          <a:solidFill>
            <a:srgbClr val="FFFFFF"/>
          </a:solidFill>
          <a:ln w="9525">
            <a:solidFill>
              <a:srgbClr val="E3DCD1"/>
            </a:solidFill>
            <a:prstDash val="solid"/>
          </a:ln>
        </p:spPr>
      </p:sp>
      <p:sp>
        <p:nvSpPr>
          <p:cNvPr id="46" name="Text 44"/>
          <p:cNvSpPr txBox="1"/>
          <p:nvPr/>
        </p:nvSpPr>
        <p:spPr>
          <a:xfrm>
            <a:off x="9559823" y="3493008"/>
            <a:ext cx="1909496"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Static hosting</a:t>
            </a:r>
            <a:endParaRPr lang="en-US" sz="1100" dirty="0"/>
          </a:p>
        </p:txBody>
      </p:sp>
      <p:sp>
        <p:nvSpPr>
          <p:cNvPr id="47" name="Text 45"/>
          <p:cNvSpPr txBox="1"/>
          <p:nvPr/>
        </p:nvSpPr>
        <p:spPr>
          <a:xfrm>
            <a:off x="9559823" y="3749040"/>
            <a:ext cx="1909496"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Serves the web app · one Docker image</a:t>
            </a:r>
            <a:endParaRPr lang="en-US" sz="950" dirty="0"/>
          </a:p>
        </p:txBody>
      </p:sp>
      <p:sp>
        <p:nvSpPr>
          <p:cNvPr id="48" name="Text 46"/>
          <p:cNvSpPr txBox="1"/>
          <p:nvPr/>
        </p:nvSpPr>
        <p:spPr>
          <a:xfrm>
            <a:off x="594360" y="4425696"/>
            <a:ext cx="1874520" cy="310896"/>
          </a:xfrm>
          <a:prstGeom prst="rect">
            <a:avLst/>
          </a:prstGeom>
          <a:noFill/>
          <a:ln/>
        </p:spPr>
        <p:txBody>
          <a:bodyPr wrap="square" lIns="0" tIns="0" rIns="0" bIns="0" rtlCol="0" anchor="t"/>
          <a:lstStyle/>
          <a:p>
            <a:pPr algn="l" indent="0" marL="0">
              <a:buNone/>
            </a:pPr>
            <a:r>
              <a:rPr lang="en-US" sz="1500" dirty="0">
                <a:solidFill>
                  <a:srgbClr val="1C1A17"/>
                </a:solidFill>
                <a:latin typeface="Georgia" pitchFamily="34" charset="0"/>
                <a:ea typeface="Georgia" pitchFamily="34" charset="-122"/>
                <a:cs typeface="Georgia" pitchFamily="34" charset="-120"/>
              </a:rPr>
              <a:t>Core engine</a:t>
            </a:r>
            <a:endParaRPr lang="en-US" sz="1500" dirty="0"/>
          </a:p>
        </p:txBody>
      </p:sp>
      <p:sp>
        <p:nvSpPr>
          <p:cNvPr id="49" name="Text 47"/>
          <p:cNvSpPr txBox="1"/>
          <p:nvPr/>
        </p:nvSpPr>
        <p:spPr>
          <a:xfrm>
            <a:off x="594360" y="4736592"/>
            <a:ext cx="1783080" cy="365760"/>
          </a:xfrm>
          <a:prstGeom prst="rect">
            <a:avLst/>
          </a:prstGeom>
          <a:noFill/>
          <a:ln/>
        </p:spPr>
        <p:txBody>
          <a:bodyPr wrap="square" lIns="0" tIns="0" rIns="0" bIns="0" rtlCol="0" anchor="t"/>
          <a:lstStyle/>
          <a:p>
            <a:pPr algn="l" indent="0" marL="0">
              <a:lnSpc>
                <a:spcPct val="110000"/>
              </a:lnSpc>
              <a:buNone/>
            </a:pPr>
            <a:r>
              <a:rPr lang="en-US" sz="900" dirty="0">
                <a:solidFill>
                  <a:srgbClr val="8A8377"/>
                </a:solidFill>
                <a:latin typeface="Arial" pitchFamily="34" charset="0"/>
                <a:ea typeface="Arial" pitchFamily="34" charset="-122"/>
                <a:cs typeface="Arial" pitchFamily="34" charset="-120"/>
              </a:rPr>
              <a:t>Isomorphic TypeScript · 14 tests</a:t>
            </a:r>
            <a:endParaRPr lang="en-US" sz="900" dirty="0"/>
          </a:p>
        </p:txBody>
      </p:sp>
      <p:sp>
        <p:nvSpPr>
          <p:cNvPr id="50" name="Shape 48"/>
          <p:cNvSpPr/>
          <p:nvPr/>
        </p:nvSpPr>
        <p:spPr>
          <a:xfrm>
            <a:off x="2606040" y="4334256"/>
            <a:ext cx="1407109" cy="822960"/>
          </a:xfrm>
          <a:prstGeom prst="roundRect">
            <a:avLst>
              <a:gd name="adj" fmla="val 8889"/>
            </a:avLst>
          </a:prstGeom>
          <a:solidFill>
            <a:srgbClr val="1C1A17"/>
          </a:solidFill>
          <a:ln w="9525">
            <a:solidFill>
              <a:srgbClr val="1C1A17"/>
            </a:solidFill>
            <a:prstDash val="solid"/>
          </a:ln>
        </p:spPr>
      </p:sp>
      <p:sp>
        <p:nvSpPr>
          <p:cNvPr id="51" name="Text 49"/>
          <p:cNvSpPr txBox="1"/>
          <p:nvPr/>
        </p:nvSpPr>
        <p:spPr>
          <a:xfrm>
            <a:off x="2734056" y="4425696"/>
            <a:ext cx="1151077" cy="237744"/>
          </a:xfrm>
          <a:prstGeom prst="rect">
            <a:avLst/>
          </a:prstGeom>
          <a:noFill/>
          <a:ln/>
        </p:spPr>
        <p:txBody>
          <a:bodyPr wrap="square" lIns="0" tIns="0" rIns="0" bIns="0" rtlCol="0" anchor="t"/>
          <a:lstStyle/>
          <a:p>
            <a:pPr algn="l" indent="0" marL="0">
              <a:buNone/>
            </a:pPr>
            <a:r>
              <a:rPr lang="en-US" sz="1100" b="1" dirty="0">
                <a:solidFill>
                  <a:srgbClr val="F6F1E9"/>
                </a:solidFill>
                <a:latin typeface="Arial" pitchFamily="34" charset="0"/>
                <a:ea typeface="Arial" pitchFamily="34" charset="-122"/>
                <a:cs typeface="Arial" pitchFamily="34" charset="-120"/>
              </a:rPr>
              <a:t>Planner</a:t>
            </a:r>
            <a:endParaRPr lang="en-US" sz="1100" dirty="0"/>
          </a:p>
        </p:txBody>
      </p:sp>
      <p:sp>
        <p:nvSpPr>
          <p:cNvPr id="52" name="Text 50"/>
          <p:cNvSpPr txBox="1"/>
          <p:nvPr/>
        </p:nvSpPr>
        <p:spPr>
          <a:xfrm>
            <a:off x="2734056" y="4681728"/>
            <a:ext cx="1151077" cy="438912"/>
          </a:xfrm>
          <a:prstGeom prst="rect">
            <a:avLst/>
          </a:prstGeom>
          <a:noFill/>
          <a:ln/>
        </p:spPr>
        <p:txBody>
          <a:bodyPr wrap="square" lIns="0" tIns="0" rIns="0" bIns="0" rtlCol="0" anchor="t"/>
          <a:lstStyle/>
          <a:p>
            <a:pPr algn="l" indent="0" marL="0">
              <a:lnSpc>
                <a:spcPct val="110000"/>
              </a:lnSpc>
              <a:buNone/>
            </a:pPr>
            <a:r>
              <a:rPr lang="en-US" sz="950" dirty="0">
                <a:solidFill>
                  <a:srgbClr val="D9D2C6"/>
                </a:solidFill>
                <a:latin typeface="Arial" pitchFamily="34" charset="0"/>
                <a:ea typeface="Arial" pitchFamily="34" charset="-122"/>
                <a:cs typeface="Arial" pitchFamily="34" charset="-120"/>
              </a:rPr>
              <a:t>Domains × priority</a:t>
            </a:r>
            <a:endParaRPr lang="en-US" sz="950" dirty="0"/>
          </a:p>
        </p:txBody>
      </p:sp>
      <p:sp>
        <p:nvSpPr>
          <p:cNvPr id="53" name="Shape 51"/>
          <p:cNvSpPr/>
          <p:nvPr/>
        </p:nvSpPr>
        <p:spPr>
          <a:xfrm>
            <a:off x="4122877" y="4334256"/>
            <a:ext cx="1407109" cy="822960"/>
          </a:xfrm>
          <a:prstGeom prst="roundRect">
            <a:avLst>
              <a:gd name="adj" fmla="val 8889"/>
            </a:avLst>
          </a:prstGeom>
          <a:solidFill>
            <a:srgbClr val="1C1A17"/>
          </a:solidFill>
          <a:ln w="9525">
            <a:solidFill>
              <a:srgbClr val="1C1A17"/>
            </a:solidFill>
            <a:prstDash val="solid"/>
          </a:ln>
        </p:spPr>
      </p:sp>
      <p:sp>
        <p:nvSpPr>
          <p:cNvPr id="54" name="Text 52"/>
          <p:cNvSpPr txBox="1"/>
          <p:nvPr/>
        </p:nvSpPr>
        <p:spPr>
          <a:xfrm>
            <a:off x="4250893" y="4425696"/>
            <a:ext cx="1151077" cy="237744"/>
          </a:xfrm>
          <a:prstGeom prst="rect">
            <a:avLst/>
          </a:prstGeom>
          <a:noFill/>
          <a:ln/>
        </p:spPr>
        <p:txBody>
          <a:bodyPr wrap="square" lIns="0" tIns="0" rIns="0" bIns="0" rtlCol="0" anchor="t"/>
          <a:lstStyle/>
          <a:p>
            <a:pPr algn="l" indent="0" marL="0">
              <a:buNone/>
            </a:pPr>
            <a:r>
              <a:rPr lang="en-US" sz="1100" b="1" dirty="0">
                <a:solidFill>
                  <a:srgbClr val="F6F1E9"/>
                </a:solidFill>
                <a:latin typeface="Arial" pitchFamily="34" charset="0"/>
                <a:ea typeface="Arial" pitchFamily="34" charset="-122"/>
                <a:cs typeface="Arial" pitchFamily="34" charset="-120"/>
              </a:rPr>
              <a:t>Interviewer</a:t>
            </a:r>
            <a:endParaRPr lang="en-US" sz="1100" dirty="0"/>
          </a:p>
        </p:txBody>
      </p:sp>
      <p:sp>
        <p:nvSpPr>
          <p:cNvPr id="55" name="Text 53"/>
          <p:cNvSpPr txBox="1"/>
          <p:nvPr/>
        </p:nvSpPr>
        <p:spPr>
          <a:xfrm>
            <a:off x="4250893" y="4681728"/>
            <a:ext cx="1151077" cy="438912"/>
          </a:xfrm>
          <a:prstGeom prst="rect">
            <a:avLst/>
          </a:prstGeom>
          <a:noFill/>
          <a:ln/>
        </p:spPr>
        <p:txBody>
          <a:bodyPr wrap="square" lIns="0" tIns="0" rIns="0" bIns="0" rtlCol="0" anchor="t"/>
          <a:lstStyle/>
          <a:p>
            <a:pPr algn="l" indent="0" marL="0">
              <a:lnSpc>
                <a:spcPct val="110000"/>
              </a:lnSpc>
              <a:buNone/>
            </a:pPr>
            <a:r>
              <a:rPr lang="en-US" sz="950" dirty="0">
                <a:solidFill>
                  <a:srgbClr val="D9D2C6"/>
                </a:solidFill>
                <a:latin typeface="Arial" pitchFamily="34" charset="0"/>
                <a:ea typeface="Arial" pitchFamily="34" charset="-122"/>
                <a:cs typeface="Arial" pitchFamily="34" charset="-120"/>
              </a:rPr>
              <a:t>One question per turn</a:t>
            </a:r>
            <a:endParaRPr lang="en-US" sz="950" dirty="0"/>
          </a:p>
        </p:txBody>
      </p:sp>
      <p:sp>
        <p:nvSpPr>
          <p:cNvPr id="56" name="Shape 54"/>
          <p:cNvSpPr/>
          <p:nvPr/>
        </p:nvSpPr>
        <p:spPr>
          <a:xfrm>
            <a:off x="5639714" y="4334256"/>
            <a:ext cx="1407109" cy="822960"/>
          </a:xfrm>
          <a:prstGeom prst="roundRect">
            <a:avLst>
              <a:gd name="adj" fmla="val 8889"/>
            </a:avLst>
          </a:prstGeom>
          <a:solidFill>
            <a:srgbClr val="1C1A17"/>
          </a:solidFill>
          <a:ln w="9525">
            <a:solidFill>
              <a:srgbClr val="1C1A17"/>
            </a:solidFill>
            <a:prstDash val="solid"/>
          </a:ln>
        </p:spPr>
      </p:sp>
      <p:sp>
        <p:nvSpPr>
          <p:cNvPr id="57" name="Text 55"/>
          <p:cNvSpPr txBox="1"/>
          <p:nvPr/>
        </p:nvSpPr>
        <p:spPr>
          <a:xfrm>
            <a:off x="5767730" y="4425696"/>
            <a:ext cx="1151077" cy="237744"/>
          </a:xfrm>
          <a:prstGeom prst="rect">
            <a:avLst/>
          </a:prstGeom>
          <a:noFill/>
          <a:ln/>
        </p:spPr>
        <p:txBody>
          <a:bodyPr wrap="square" lIns="0" tIns="0" rIns="0" bIns="0" rtlCol="0" anchor="t"/>
          <a:lstStyle/>
          <a:p>
            <a:pPr algn="l" indent="0" marL="0">
              <a:buNone/>
            </a:pPr>
            <a:r>
              <a:rPr lang="en-US" sz="1100" b="1" dirty="0">
                <a:solidFill>
                  <a:srgbClr val="F6F1E9"/>
                </a:solidFill>
                <a:latin typeface="Arial" pitchFamily="34" charset="0"/>
                <a:ea typeface="Arial" pitchFamily="34" charset="-122"/>
                <a:cs typeface="Arial" pitchFamily="34" charset="-120"/>
              </a:rPr>
              <a:t>Extractor</a:t>
            </a:r>
            <a:endParaRPr lang="en-US" sz="1100" dirty="0"/>
          </a:p>
        </p:txBody>
      </p:sp>
      <p:sp>
        <p:nvSpPr>
          <p:cNvPr id="58" name="Text 56"/>
          <p:cNvSpPr txBox="1"/>
          <p:nvPr/>
        </p:nvSpPr>
        <p:spPr>
          <a:xfrm>
            <a:off x="5767730" y="4681728"/>
            <a:ext cx="1151077" cy="438912"/>
          </a:xfrm>
          <a:prstGeom prst="rect">
            <a:avLst/>
          </a:prstGeom>
          <a:noFill/>
          <a:ln/>
        </p:spPr>
        <p:txBody>
          <a:bodyPr wrap="square" lIns="0" tIns="0" rIns="0" bIns="0" rtlCol="0" anchor="t"/>
          <a:lstStyle/>
          <a:p>
            <a:pPr algn="l" indent="0" marL="0">
              <a:lnSpc>
                <a:spcPct val="110000"/>
              </a:lnSpc>
              <a:buNone/>
            </a:pPr>
            <a:r>
              <a:rPr lang="en-US" sz="950" dirty="0">
                <a:solidFill>
                  <a:srgbClr val="D9D2C6"/>
                </a:solidFill>
                <a:latin typeface="Arial" pitchFamily="34" charset="0"/>
                <a:ea typeface="Arial" pitchFamily="34" charset="-122"/>
                <a:cs typeface="Arial" pitchFamily="34" charset="-120"/>
              </a:rPr>
              <a:t>Typed, cited atoms</a:t>
            </a:r>
            <a:endParaRPr lang="en-US" sz="950" dirty="0"/>
          </a:p>
        </p:txBody>
      </p:sp>
      <p:sp>
        <p:nvSpPr>
          <p:cNvPr id="59" name="Shape 57"/>
          <p:cNvSpPr/>
          <p:nvPr/>
        </p:nvSpPr>
        <p:spPr>
          <a:xfrm>
            <a:off x="7156552" y="4334256"/>
            <a:ext cx="1407109" cy="822960"/>
          </a:xfrm>
          <a:prstGeom prst="roundRect">
            <a:avLst>
              <a:gd name="adj" fmla="val 8889"/>
            </a:avLst>
          </a:prstGeom>
          <a:solidFill>
            <a:srgbClr val="1C1A17"/>
          </a:solidFill>
          <a:ln w="9525">
            <a:solidFill>
              <a:srgbClr val="1C1A17"/>
            </a:solidFill>
            <a:prstDash val="solid"/>
          </a:ln>
        </p:spPr>
      </p:sp>
      <p:sp>
        <p:nvSpPr>
          <p:cNvPr id="60" name="Text 58"/>
          <p:cNvSpPr txBox="1"/>
          <p:nvPr/>
        </p:nvSpPr>
        <p:spPr>
          <a:xfrm>
            <a:off x="7284568" y="4425696"/>
            <a:ext cx="1151077" cy="237744"/>
          </a:xfrm>
          <a:prstGeom prst="rect">
            <a:avLst/>
          </a:prstGeom>
          <a:noFill/>
          <a:ln/>
        </p:spPr>
        <p:txBody>
          <a:bodyPr wrap="square" lIns="0" tIns="0" rIns="0" bIns="0" rtlCol="0" anchor="t"/>
          <a:lstStyle/>
          <a:p>
            <a:pPr algn="l" indent="0" marL="0">
              <a:buNone/>
            </a:pPr>
            <a:r>
              <a:rPr lang="en-US" sz="1100" b="1" dirty="0">
                <a:solidFill>
                  <a:srgbClr val="F6F1E9"/>
                </a:solidFill>
                <a:latin typeface="Arial" pitchFamily="34" charset="0"/>
                <a:ea typeface="Arial" pitchFamily="34" charset="-122"/>
                <a:cs typeface="Arial" pitchFamily="34" charset="-120"/>
              </a:rPr>
              <a:t>Coverage</a:t>
            </a:r>
            <a:endParaRPr lang="en-US" sz="1100" dirty="0"/>
          </a:p>
        </p:txBody>
      </p:sp>
      <p:sp>
        <p:nvSpPr>
          <p:cNvPr id="61" name="Text 59"/>
          <p:cNvSpPr txBox="1"/>
          <p:nvPr/>
        </p:nvSpPr>
        <p:spPr>
          <a:xfrm>
            <a:off x="7284568" y="4681728"/>
            <a:ext cx="1151077" cy="438912"/>
          </a:xfrm>
          <a:prstGeom prst="rect">
            <a:avLst/>
          </a:prstGeom>
          <a:noFill/>
          <a:ln/>
        </p:spPr>
        <p:txBody>
          <a:bodyPr wrap="square" lIns="0" tIns="0" rIns="0" bIns="0" rtlCol="0" anchor="t"/>
          <a:lstStyle/>
          <a:p>
            <a:pPr algn="l" indent="0" marL="0">
              <a:lnSpc>
                <a:spcPct val="110000"/>
              </a:lnSpc>
              <a:buNone/>
            </a:pPr>
            <a:r>
              <a:rPr lang="en-US" sz="950" dirty="0">
                <a:solidFill>
                  <a:srgbClr val="D9D2C6"/>
                </a:solidFill>
                <a:latin typeface="Arial" pitchFamily="34" charset="0"/>
                <a:ea typeface="Arial" pitchFamily="34" charset="-122"/>
                <a:cs typeface="Arial" pitchFamily="34" charset="-120"/>
              </a:rPr>
              <a:t>Steers the interview</a:t>
            </a:r>
            <a:endParaRPr lang="en-US" sz="950" dirty="0"/>
          </a:p>
        </p:txBody>
      </p:sp>
      <p:sp>
        <p:nvSpPr>
          <p:cNvPr id="62" name="Shape 60"/>
          <p:cNvSpPr/>
          <p:nvPr/>
        </p:nvSpPr>
        <p:spPr>
          <a:xfrm>
            <a:off x="8673389" y="4334256"/>
            <a:ext cx="1407109" cy="822960"/>
          </a:xfrm>
          <a:prstGeom prst="roundRect">
            <a:avLst>
              <a:gd name="adj" fmla="val 8889"/>
            </a:avLst>
          </a:prstGeom>
          <a:solidFill>
            <a:srgbClr val="1C1A17"/>
          </a:solidFill>
          <a:ln w="9525">
            <a:solidFill>
              <a:srgbClr val="1C1A17"/>
            </a:solidFill>
            <a:prstDash val="solid"/>
          </a:ln>
        </p:spPr>
      </p:sp>
      <p:sp>
        <p:nvSpPr>
          <p:cNvPr id="63" name="Text 61"/>
          <p:cNvSpPr txBox="1"/>
          <p:nvPr/>
        </p:nvSpPr>
        <p:spPr>
          <a:xfrm>
            <a:off x="8801405" y="4425696"/>
            <a:ext cx="1151077" cy="237744"/>
          </a:xfrm>
          <a:prstGeom prst="rect">
            <a:avLst/>
          </a:prstGeom>
          <a:noFill/>
          <a:ln/>
        </p:spPr>
        <p:txBody>
          <a:bodyPr wrap="square" lIns="0" tIns="0" rIns="0" bIns="0" rtlCol="0" anchor="t"/>
          <a:lstStyle/>
          <a:p>
            <a:pPr algn="l" indent="0" marL="0">
              <a:buNone/>
            </a:pPr>
            <a:r>
              <a:rPr lang="en-US" sz="1100" b="1" dirty="0">
                <a:solidFill>
                  <a:srgbClr val="F6F1E9"/>
                </a:solidFill>
                <a:latin typeface="Arial" pitchFamily="34" charset="0"/>
                <a:ea typeface="Arial" pitchFamily="34" charset="-122"/>
                <a:cs typeface="Arial" pitchFamily="34" charset="-120"/>
              </a:rPr>
              <a:t>Retrieval + twin</a:t>
            </a:r>
            <a:endParaRPr lang="en-US" sz="1100" dirty="0"/>
          </a:p>
        </p:txBody>
      </p:sp>
      <p:sp>
        <p:nvSpPr>
          <p:cNvPr id="64" name="Text 62"/>
          <p:cNvSpPr txBox="1"/>
          <p:nvPr/>
        </p:nvSpPr>
        <p:spPr>
          <a:xfrm>
            <a:off x="8801405" y="4681728"/>
            <a:ext cx="1151077" cy="438912"/>
          </a:xfrm>
          <a:prstGeom prst="rect">
            <a:avLst/>
          </a:prstGeom>
          <a:noFill/>
          <a:ln/>
        </p:spPr>
        <p:txBody>
          <a:bodyPr wrap="square" lIns="0" tIns="0" rIns="0" bIns="0" rtlCol="0" anchor="t"/>
          <a:lstStyle/>
          <a:p>
            <a:pPr algn="l" indent="0" marL="0">
              <a:lnSpc>
                <a:spcPct val="110000"/>
              </a:lnSpc>
              <a:buNone/>
            </a:pPr>
            <a:r>
              <a:rPr lang="en-US" sz="950" dirty="0">
                <a:solidFill>
                  <a:srgbClr val="D9D2C6"/>
                </a:solidFill>
                <a:latin typeface="Arial" pitchFamily="34" charset="0"/>
                <a:ea typeface="Arial" pitchFamily="34" charset="-122"/>
                <a:cs typeface="Arial" pitchFamily="34" charset="-120"/>
              </a:rPr>
              <a:t>BM25 + dense, RRF</a:t>
            </a:r>
            <a:endParaRPr lang="en-US" sz="950" dirty="0"/>
          </a:p>
        </p:txBody>
      </p:sp>
      <p:sp>
        <p:nvSpPr>
          <p:cNvPr id="65" name="Shape 63"/>
          <p:cNvSpPr/>
          <p:nvPr/>
        </p:nvSpPr>
        <p:spPr>
          <a:xfrm>
            <a:off x="10190226" y="4334256"/>
            <a:ext cx="1407109" cy="822960"/>
          </a:xfrm>
          <a:prstGeom prst="roundRect">
            <a:avLst>
              <a:gd name="adj" fmla="val 8889"/>
            </a:avLst>
          </a:prstGeom>
          <a:solidFill>
            <a:srgbClr val="1C1A17"/>
          </a:solidFill>
          <a:ln w="9525">
            <a:solidFill>
              <a:srgbClr val="1C1A17"/>
            </a:solidFill>
            <a:prstDash val="solid"/>
          </a:ln>
        </p:spPr>
      </p:sp>
      <p:sp>
        <p:nvSpPr>
          <p:cNvPr id="66" name="Text 64"/>
          <p:cNvSpPr txBox="1"/>
          <p:nvPr/>
        </p:nvSpPr>
        <p:spPr>
          <a:xfrm>
            <a:off x="10318242" y="4425696"/>
            <a:ext cx="1151077" cy="237744"/>
          </a:xfrm>
          <a:prstGeom prst="rect">
            <a:avLst/>
          </a:prstGeom>
          <a:noFill/>
          <a:ln/>
        </p:spPr>
        <p:txBody>
          <a:bodyPr wrap="square" lIns="0" tIns="0" rIns="0" bIns="0" rtlCol="0" anchor="t"/>
          <a:lstStyle/>
          <a:p>
            <a:pPr algn="l" indent="0" marL="0">
              <a:buNone/>
            </a:pPr>
            <a:r>
              <a:rPr lang="en-US" sz="1100" b="1" dirty="0">
                <a:solidFill>
                  <a:srgbClr val="F6F1E9"/>
                </a:solidFill>
                <a:latin typeface="Arial" pitchFamily="34" charset="0"/>
                <a:ea typeface="Arial" pitchFamily="34" charset="-122"/>
                <a:cs typeface="Arial" pitchFamily="34" charset="-120"/>
              </a:rPr>
              <a:t>Two brains</a:t>
            </a:r>
            <a:endParaRPr lang="en-US" sz="1100" dirty="0"/>
          </a:p>
        </p:txBody>
      </p:sp>
      <p:sp>
        <p:nvSpPr>
          <p:cNvPr id="67" name="Text 65"/>
          <p:cNvSpPr txBox="1"/>
          <p:nvPr/>
        </p:nvSpPr>
        <p:spPr>
          <a:xfrm>
            <a:off x="10318242" y="4681728"/>
            <a:ext cx="1151077" cy="438912"/>
          </a:xfrm>
          <a:prstGeom prst="rect">
            <a:avLst/>
          </a:prstGeom>
          <a:noFill/>
          <a:ln/>
        </p:spPr>
        <p:txBody>
          <a:bodyPr wrap="square" lIns="0" tIns="0" rIns="0" bIns="0" rtlCol="0" anchor="t"/>
          <a:lstStyle/>
          <a:p>
            <a:pPr algn="l" indent="0" marL="0">
              <a:lnSpc>
                <a:spcPct val="110000"/>
              </a:lnSpc>
              <a:buNone/>
            </a:pPr>
            <a:r>
              <a:rPr lang="en-US" sz="950" dirty="0">
                <a:solidFill>
                  <a:srgbClr val="D9D2C6"/>
                </a:solidFill>
                <a:latin typeface="Arial" pitchFamily="34" charset="0"/>
                <a:ea typeface="Arial" pitchFamily="34" charset="-122"/>
                <a:cs typeface="Arial" pitchFamily="34" charset="-120"/>
              </a:rPr>
              <a:t>LLM + offline heuristic</a:t>
            </a:r>
            <a:endParaRPr lang="en-US" sz="950" dirty="0"/>
          </a:p>
        </p:txBody>
      </p:sp>
      <p:sp>
        <p:nvSpPr>
          <p:cNvPr id="68" name="Text 66"/>
          <p:cNvSpPr txBox="1"/>
          <p:nvPr/>
        </p:nvSpPr>
        <p:spPr>
          <a:xfrm>
            <a:off x="594360" y="5358384"/>
            <a:ext cx="1874520" cy="310896"/>
          </a:xfrm>
          <a:prstGeom prst="rect">
            <a:avLst/>
          </a:prstGeom>
          <a:noFill/>
          <a:ln/>
        </p:spPr>
        <p:txBody>
          <a:bodyPr wrap="square" lIns="0" tIns="0" rIns="0" bIns="0" rtlCol="0" anchor="t"/>
          <a:lstStyle/>
          <a:p>
            <a:pPr algn="l" indent="0" marL="0">
              <a:buNone/>
            </a:pPr>
            <a:r>
              <a:rPr lang="en-US" sz="1500" dirty="0">
                <a:solidFill>
                  <a:srgbClr val="1C1A17"/>
                </a:solidFill>
                <a:latin typeface="Georgia" pitchFamily="34" charset="0"/>
                <a:ea typeface="Georgia" pitchFamily="34" charset="-122"/>
                <a:cs typeface="Georgia" pitchFamily="34" charset="-120"/>
              </a:rPr>
              <a:t>Providers</a:t>
            </a:r>
            <a:endParaRPr lang="en-US" sz="1500" dirty="0"/>
          </a:p>
        </p:txBody>
      </p:sp>
      <p:sp>
        <p:nvSpPr>
          <p:cNvPr id="69" name="Text 67"/>
          <p:cNvSpPr txBox="1"/>
          <p:nvPr/>
        </p:nvSpPr>
        <p:spPr>
          <a:xfrm>
            <a:off x="594360" y="5669280"/>
            <a:ext cx="1783080" cy="365760"/>
          </a:xfrm>
          <a:prstGeom prst="rect">
            <a:avLst/>
          </a:prstGeom>
          <a:noFill/>
          <a:ln/>
        </p:spPr>
        <p:txBody>
          <a:bodyPr wrap="square" lIns="0" tIns="0" rIns="0" bIns="0" rtlCol="0" anchor="t"/>
          <a:lstStyle/>
          <a:p>
            <a:pPr algn="l" indent="0" marL="0">
              <a:lnSpc>
                <a:spcPct val="110000"/>
              </a:lnSpc>
              <a:buNone/>
            </a:pPr>
            <a:r>
              <a:rPr lang="en-US" sz="900" dirty="0">
                <a:solidFill>
                  <a:srgbClr val="8A8377"/>
                </a:solidFill>
                <a:latin typeface="Arial" pitchFamily="34" charset="0"/>
                <a:ea typeface="Arial" pitchFamily="34" charset="-122"/>
                <a:cs typeface="Arial" pitchFamily="34" charset="-120"/>
              </a:rPr>
              <a:t>OpenAI-compatible unless noted</a:t>
            </a:r>
            <a:endParaRPr lang="en-US" sz="900" dirty="0"/>
          </a:p>
        </p:txBody>
      </p:sp>
      <p:sp>
        <p:nvSpPr>
          <p:cNvPr id="70" name="Shape 68"/>
          <p:cNvSpPr/>
          <p:nvPr/>
        </p:nvSpPr>
        <p:spPr>
          <a:xfrm>
            <a:off x="2606040" y="5266944"/>
            <a:ext cx="2158078" cy="822960"/>
          </a:xfrm>
          <a:prstGeom prst="roundRect">
            <a:avLst>
              <a:gd name="adj" fmla="val 8889"/>
            </a:avLst>
          </a:prstGeom>
          <a:solidFill>
            <a:srgbClr val="FFFFFF"/>
          </a:solidFill>
          <a:ln w="9525">
            <a:solidFill>
              <a:srgbClr val="E3DCD1"/>
            </a:solidFill>
            <a:prstDash val="solid"/>
          </a:ln>
        </p:spPr>
      </p:sp>
      <p:sp>
        <p:nvSpPr>
          <p:cNvPr id="71" name="Text 69"/>
          <p:cNvSpPr txBox="1"/>
          <p:nvPr/>
        </p:nvSpPr>
        <p:spPr>
          <a:xfrm>
            <a:off x="2734056" y="5358384"/>
            <a:ext cx="1335118"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Nebius</a:t>
            </a:r>
            <a:endParaRPr lang="en-US" sz="1100" dirty="0"/>
          </a:p>
        </p:txBody>
      </p:sp>
      <p:sp>
        <p:nvSpPr>
          <p:cNvPr id="72" name="Text 70"/>
          <p:cNvSpPr txBox="1"/>
          <p:nvPr/>
        </p:nvSpPr>
        <p:spPr>
          <a:xfrm>
            <a:off x="2734056" y="5614416"/>
            <a:ext cx="1902046"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Token Factory · Qwen3-30B-A3B · Qwen3-Embedding-8B</a:t>
            </a:r>
            <a:endParaRPr lang="en-US" sz="950" dirty="0"/>
          </a:p>
        </p:txBody>
      </p:sp>
      <p:sp>
        <p:nvSpPr>
          <p:cNvPr id="73" name="Text 71"/>
          <p:cNvSpPr txBox="1"/>
          <p:nvPr/>
        </p:nvSpPr>
        <p:spPr>
          <a:xfrm>
            <a:off x="4069174" y="5358384"/>
            <a:ext cx="566928" cy="182880"/>
          </a:xfrm>
          <a:prstGeom prst="roundRect">
            <a:avLst>
              <a:gd name="adj" fmla="val 50000"/>
            </a:avLst>
          </a:prstGeom>
          <a:solidFill>
            <a:srgbClr val="F7E8CC"/>
          </a:solidFill>
          <a:ln/>
        </p:spPr>
        <p:txBody>
          <a:bodyPr wrap="square" lIns="0" tIns="0" rIns="0" bIns="0" rtlCol="0" anchor="ctr"/>
          <a:lstStyle/>
          <a:p>
            <a:pPr algn="ctr" indent="0" marL="0">
              <a:buNone/>
            </a:pPr>
            <a:r>
              <a:rPr lang="en-US" sz="750" b="1" spc="50" kern="0" dirty="0">
                <a:solidFill>
                  <a:srgbClr val="9A5A14"/>
                </a:solidFill>
                <a:latin typeface="Arial" pitchFamily="34" charset="0"/>
                <a:ea typeface="Arial" pitchFamily="34" charset="-122"/>
                <a:cs typeface="Arial" pitchFamily="34" charset="-120"/>
              </a:rPr>
              <a:t>partner</a:t>
            </a:r>
            <a:endParaRPr lang="en-US" sz="750" dirty="0"/>
          </a:p>
        </p:txBody>
      </p:sp>
      <p:sp>
        <p:nvSpPr>
          <p:cNvPr id="74" name="Shape 72"/>
          <p:cNvSpPr/>
          <p:nvPr/>
        </p:nvSpPr>
        <p:spPr>
          <a:xfrm>
            <a:off x="4873846" y="5266944"/>
            <a:ext cx="1598576" cy="822960"/>
          </a:xfrm>
          <a:prstGeom prst="roundRect">
            <a:avLst>
              <a:gd name="adj" fmla="val 8889"/>
            </a:avLst>
          </a:prstGeom>
          <a:solidFill>
            <a:srgbClr val="FFFFFF"/>
          </a:solidFill>
          <a:ln w="9525">
            <a:solidFill>
              <a:srgbClr val="E3DCD1"/>
            </a:solidFill>
            <a:prstDash val="solid"/>
          </a:ln>
        </p:spPr>
      </p:sp>
      <p:sp>
        <p:nvSpPr>
          <p:cNvPr id="75" name="Text 73"/>
          <p:cNvSpPr txBox="1"/>
          <p:nvPr/>
        </p:nvSpPr>
        <p:spPr>
          <a:xfrm>
            <a:off x="5001862" y="5358384"/>
            <a:ext cx="1342544"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OpenAI</a:t>
            </a:r>
            <a:endParaRPr lang="en-US" sz="1100" dirty="0"/>
          </a:p>
        </p:txBody>
      </p:sp>
      <p:sp>
        <p:nvSpPr>
          <p:cNvPr id="76" name="Text 74"/>
          <p:cNvSpPr txBox="1"/>
          <p:nvPr/>
        </p:nvSpPr>
        <p:spPr>
          <a:xfrm>
            <a:off x="5001862" y="5614416"/>
            <a:ext cx="134254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gpt-4o-mini or any base URL</a:t>
            </a:r>
            <a:endParaRPr lang="en-US" sz="950" dirty="0"/>
          </a:p>
        </p:txBody>
      </p:sp>
      <p:sp>
        <p:nvSpPr>
          <p:cNvPr id="77" name="Shape 75"/>
          <p:cNvSpPr/>
          <p:nvPr/>
        </p:nvSpPr>
        <p:spPr>
          <a:xfrm>
            <a:off x="6582150" y="5266944"/>
            <a:ext cx="1598576" cy="822960"/>
          </a:xfrm>
          <a:prstGeom prst="roundRect">
            <a:avLst>
              <a:gd name="adj" fmla="val 8889"/>
            </a:avLst>
          </a:prstGeom>
          <a:solidFill>
            <a:srgbClr val="FFFFFF"/>
          </a:solidFill>
          <a:ln w="9525">
            <a:solidFill>
              <a:srgbClr val="E3DCD1"/>
            </a:solidFill>
            <a:prstDash val="solid"/>
          </a:ln>
        </p:spPr>
      </p:sp>
      <p:sp>
        <p:nvSpPr>
          <p:cNvPr id="78" name="Text 76"/>
          <p:cNvSpPr txBox="1"/>
          <p:nvPr/>
        </p:nvSpPr>
        <p:spPr>
          <a:xfrm>
            <a:off x="6710166" y="5358384"/>
            <a:ext cx="1342544"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Anthropic</a:t>
            </a:r>
            <a:endParaRPr lang="en-US" sz="1100" dirty="0"/>
          </a:p>
        </p:txBody>
      </p:sp>
      <p:sp>
        <p:nvSpPr>
          <p:cNvPr id="79" name="Text 77"/>
          <p:cNvSpPr txBox="1"/>
          <p:nvPr/>
        </p:nvSpPr>
        <p:spPr>
          <a:xfrm>
            <a:off x="6710166" y="5614416"/>
            <a:ext cx="134254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Messages API</a:t>
            </a:r>
            <a:endParaRPr lang="en-US" sz="950" dirty="0"/>
          </a:p>
        </p:txBody>
      </p:sp>
      <p:sp>
        <p:nvSpPr>
          <p:cNvPr id="80" name="Shape 78"/>
          <p:cNvSpPr/>
          <p:nvPr/>
        </p:nvSpPr>
        <p:spPr>
          <a:xfrm>
            <a:off x="8290455" y="5266944"/>
            <a:ext cx="1598576" cy="822960"/>
          </a:xfrm>
          <a:prstGeom prst="roundRect">
            <a:avLst>
              <a:gd name="adj" fmla="val 8889"/>
            </a:avLst>
          </a:prstGeom>
          <a:solidFill>
            <a:srgbClr val="FFFFFF"/>
          </a:solidFill>
          <a:ln w="9525">
            <a:solidFill>
              <a:srgbClr val="E3DCD1"/>
            </a:solidFill>
            <a:prstDash val="solid"/>
          </a:ln>
        </p:spPr>
      </p:sp>
      <p:sp>
        <p:nvSpPr>
          <p:cNvPr id="81" name="Text 79"/>
          <p:cNvSpPr txBox="1"/>
          <p:nvPr/>
        </p:nvSpPr>
        <p:spPr>
          <a:xfrm>
            <a:off x="8418471" y="5358384"/>
            <a:ext cx="1342544"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Ollama</a:t>
            </a:r>
            <a:endParaRPr lang="en-US" sz="1100" dirty="0"/>
          </a:p>
        </p:txBody>
      </p:sp>
      <p:sp>
        <p:nvSpPr>
          <p:cNvPr id="82" name="Text 80"/>
          <p:cNvSpPr txBox="1"/>
          <p:nvPr/>
        </p:nvSpPr>
        <p:spPr>
          <a:xfrm>
            <a:off x="8418471" y="5614416"/>
            <a:ext cx="134254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Local, free, auto-detected</a:t>
            </a:r>
            <a:endParaRPr lang="en-US" sz="950" dirty="0"/>
          </a:p>
        </p:txBody>
      </p:sp>
      <p:sp>
        <p:nvSpPr>
          <p:cNvPr id="83" name="Shape 81"/>
          <p:cNvSpPr/>
          <p:nvPr/>
        </p:nvSpPr>
        <p:spPr>
          <a:xfrm>
            <a:off x="9998759" y="5266944"/>
            <a:ext cx="1598576" cy="822960"/>
          </a:xfrm>
          <a:prstGeom prst="roundRect">
            <a:avLst>
              <a:gd name="adj" fmla="val 8889"/>
            </a:avLst>
          </a:prstGeom>
          <a:solidFill>
            <a:srgbClr val="FFFFFF"/>
          </a:solidFill>
          <a:ln w="9525">
            <a:solidFill>
              <a:srgbClr val="E3DCD1"/>
            </a:solidFill>
            <a:prstDash val="solid"/>
          </a:ln>
        </p:spPr>
      </p:sp>
      <p:sp>
        <p:nvSpPr>
          <p:cNvPr id="84" name="Text 82"/>
          <p:cNvSpPr txBox="1"/>
          <p:nvPr/>
        </p:nvSpPr>
        <p:spPr>
          <a:xfrm>
            <a:off x="10126775" y="5358384"/>
            <a:ext cx="1342544" cy="237744"/>
          </a:xfrm>
          <a:prstGeom prst="rect">
            <a:avLst/>
          </a:prstGeom>
          <a:noFill/>
          <a:ln/>
        </p:spPr>
        <p:txBody>
          <a:bodyPr wrap="square" lIns="0" tIns="0" rIns="0" bIns="0" rtlCol="0" anchor="t"/>
          <a:lstStyle/>
          <a:p>
            <a:pPr algn="l" indent="0" marL="0">
              <a:buNone/>
            </a:pPr>
            <a:r>
              <a:rPr lang="en-US" sz="1100" b="1" dirty="0">
                <a:solidFill>
                  <a:srgbClr val="1C1A17"/>
                </a:solidFill>
                <a:latin typeface="Arial" pitchFamily="34" charset="0"/>
                <a:ea typeface="Arial" pitchFamily="34" charset="-122"/>
                <a:cs typeface="Arial" pitchFamily="34" charset="-120"/>
              </a:rPr>
              <a:t>Demo brain</a:t>
            </a:r>
            <a:endParaRPr lang="en-US" sz="1100" dirty="0"/>
          </a:p>
        </p:txBody>
      </p:sp>
      <p:sp>
        <p:nvSpPr>
          <p:cNvPr id="85" name="Text 83"/>
          <p:cNvSpPr txBox="1"/>
          <p:nvPr/>
        </p:nvSpPr>
        <p:spPr>
          <a:xfrm>
            <a:off x="10126775" y="5614416"/>
            <a:ext cx="1342544" cy="438912"/>
          </a:xfrm>
          <a:prstGeom prst="rect">
            <a:avLst/>
          </a:prstGeom>
          <a:noFill/>
          <a:ln/>
        </p:spPr>
        <p:txBody>
          <a:bodyPr wrap="square" lIns="0" tIns="0" rIns="0" bIns="0" rtlCol="0" anchor="t"/>
          <a:lstStyle/>
          <a:p>
            <a:pPr algn="l" indent="0" marL="0">
              <a:lnSpc>
                <a:spcPct val="110000"/>
              </a:lnSpc>
              <a:buNone/>
            </a:pPr>
            <a:r>
              <a:rPr lang="en-US" sz="950" dirty="0">
                <a:solidFill>
                  <a:srgbClr val="3B3631"/>
                </a:solidFill>
                <a:latin typeface="Arial" pitchFamily="34" charset="0"/>
                <a:ea typeface="Arial" pitchFamily="34" charset="-122"/>
                <a:cs typeface="Arial" pitchFamily="34" charset="-120"/>
              </a:rPr>
              <a:t>No keys — every button works</a:t>
            </a:r>
            <a:endParaRPr lang="en-US" sz="950" dirty="0"/>
          </a:p>
        </p:txBody>
      </p:sp>
      <p:sp>
        <p:nvSpPr>
          <p:cNvPr id="86" name="Text 84"/>
          <p:cNvSpPr txBox="1"/>
          <p:nvPr/>
        </p:nvSpPr>
        <p:spPr>
          <a:xfrm>
            <a:off x="594360" y="6144768"/>
            <a:ext cx="11002975" cy="237744"/>
          </a:xfrm>
          <a:prstGeom prst="rect">
            <a:avLst/>
          </a:prstGeom>
          <a:noFill/>
          <a:ln/>
        </p:spPr>
        <p:txBody>
          <a:bodyPr wrap="square" lIns="0" tIns="0" rIns="0" bIns="0" rtlCol="0" anchor="ctr"/>
          <a:lstStyle/>
          <a:p>
            <a:pPr algn="l" indent="0" marL="0">
              <a:buNone/>
            </a:pPr>
            <a:r>
              <a:rPr lang="en-US" sz="1050" dirty="0">
                <a:solidFill>
                  <a:srgbClr val="8A8377"/>
                </a:solidFill>
                <a:latin typeface="Arial" pitchFamily="34" charset="0"/>
                <a:ea typeface="Arial" pitchFamily="34" charset="-122"/>
                <a:cs typeface="Arial" pitchFamily="34" charset="-120"/>
              </a:rPr>
              <a:t>Zero native dependencies · 14 tests · one Docker image · MIT licence · full diagram in the repo</a:t>
            </a:r>
            <a:endParaRPr lang="en-US" sz="1050" dirty="0"/>
          </a:p>
        </p:txBody>
      </p:sp>
      <p:sp>
        <p:nvSpPr>
          <p:cNvPr id="87" name="Text 85"/>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88" name="Text 86"/>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A17"/>
        </a:solidFill>
      </p:bgPr>
    </p:bg>
    <p:spTree>
      <p:nvGrpSpPr>
        <p:cNvPr id="1" name=""/>
        <p:cNvGrpSpPr/>
        <p:nvPr/>
      </p:nvGrpSpPr>
      <p:grpSpPr>
        <a:xfrm>
          <a:off x="0" y="0"/>
          <a:ext cx="0" cy="0"/>
          <a:chOff x="0" y="0"/>
          <a:chExt cx="0" cy="0"/>
        </a:xfrm>
      </p:grpSpPr>
      <p:sp>
        <p:nvSpPr>
          <p:cNvPr id="2" name="Text 0"/>
          <p:cNvSpPr txBox="1"/>
          <p:nvPr/>
        </p:nvSpPr>
        <p:spPr>
          <a:xfrm>
            <a:off x="594360" y="475488"/>
            <a:ext cx="932688" cy="274320"/>
          </a:xfrm>
          <a:prstGeom prst="roundRect">
            <a:avLst>
              <a:gd name="adj" fmla="val 50000"/>
            </a:avLst>
          </a:prstGeom>
          <a:solidFill>
            <a:srgbClr val="2E2924"/>
          </a:solidFill>
          <a:ln/>
        </p:spPr>
        <p:txBody>
          <a:bodyPr wrap="square" lIns="0" tIns="0" rIns="0" bIns="0" rtlCol="0" anchor="ctr"/>
          <a:lstStyle/>
          <a:p>
            <a:pPr algn="ctr" indent="0" marL="0">
              <a:buNone/>
            </a:pPr>
            <a:r>
              <a:rPr lang="en-US" sz="900" b="1" spc="150" kern="0" dirty="0">
                <a:solidFill>
                  <a:srgbClr val="E8B36B"/>
                </a:solidFill>
                <a:latin typeface="Arial" pitchFamily="34" charset="0"/>
                <a:ea typeface="Arial" pitchFamily="34" charset="-122"/>
                <a:cs typeface="Arial" pitchFamily="34" charset="-120"/>
              </a:rPr>
              <a:t>TIMING</a:t>
            </a:r>
            <a:endParaRPr lang="en-US" sz="9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algn="l" indent="0" marL="0">
              <a:lnSpc>
                <a:spcPct val="105000"/>
              </a:lnSpc>
              <a:buNone/>
            </a:pPr>
            <a:r>
              <a:rPr lang="en-US" sz="4000" dirty="0">
                <a:solidFill>
                  <a:srgbClr val="F6F1E9"/>
                </a:solidFill>
                <a:latin typeface="Georgia" pitchFamily="34" charset="0"/>
                <a:ea typeface="Georgia" pitchFamily="34" charset="-122"/>
                <a:cs typeface="Georgia" pitchFamily="34" charset="-120"/>
              </a:rPr>
              <a:t>Why voice, why now.</a:t>
            </a:r>
            <a:endParaRPr lang="en-US" sz="4000" dirty="0"/>
          </a:p>
        </p:txBody>
      </p:sp>
      <p:sp>
        <p:nvSpPr>
          <p:cNvPr id="4" name="Text 2"/>
          <p:cNvSpPr txBox="1"/>
          <p:nvPr/>
        </p:nvSpPr>
        <p:spPr>
          <a:xfrm>
            <a:off x="594360" y="1874520"/>
            <a:ext cx="3393338" cy="960120"/>
          </a:xfrm>
          <a:prstGeom prst="rect">
            <a:avLst/>
          </a:prstGeom>
          <a:noFill/>
          <a:ln/>
        </p:spPr>
        <p:txBody>
          <a:bodyPr wrap="square" lIns="0" tIns="0" rIns="0" bIns="0" rtlCol="0" anchor="ctr"/>
          <a:lstStyle/>
          <a:p>
            <a:pPr algn="l" indent="0" marL="0">
              <a:buNone/>
            </a:pPr>
            <a:r>
              <a:rPr lang="en-US" sz="6000" dirty="0">
                <a:solidFill>
                  <a:srgbClr val="E8B36B"/>
                </a:solidFill>
                <a:latin typeface="Georgia" pitchFamily="34" charset="0"/>
                <a:ea typeface="Georgia" pitchFamily="34" charset="-122"/>
                <a:cs typeface="Georgia" pitchFamily="34" charset="-120"/>
              </a:rPr>
              <a:t>0.7 s</a:t>
            </a:r>
            <a:endParaRPr lang="en-US" sz="6000" dirty="0"/>
          </a:p>
        </p:txBody>
      </p:sp>
      <p:sp>
        <p:nvSpPr>
          <p:cNvPr id="5" name="Text 3"/>
          <p:cNvSpPr txBox="1"/>
          <p:nvPr/>
        </p:nvSpPr>
        <p:spPr>
          <a:xfrm>
            <a:off x="594360" y="2852928"/>
            <a:ext cx="3393338" cy="274320"/>
          </a:xfrm>
          <a:prstGeom prst="rect">
            <a:avLst/>
          </a:prstGeom>
          <a:noFill/>
          <a:ln/>
        </p:spPr>
        <p:txBody>
          <a:bodyPr wrap="square" lIns="0" tIns="0" rIns="0" bIns="0" rtlCol="0" anchor="t"/>
          <a:lstStyle/>
          <a:p>
            <a:pPr algn="l" indent="0" marL="0">
              <a:buNone/>
            </a:pPr>
            <a:r>
              <a:rPr lang="en-US" sz="1100" dirty="0">
                <a:solidFill>
                  <a:srgbClr val="A39B8F"/>
                </a:solidFill>
                <a:latin typeface="Arial" pitchFamily="34" charset="0"/>
                <a:ea typeface="Arial" pitchFamily="34" charset="-122"/>
                <a:cs typeface="Arial" pitchFamily="34" charset="-120"/>
              </a:rPr>
              <a:t>speech-to-speech round trip</a:t>
            </a:r>
            <a:endParaRPr lang="en-US" sz="1100" dirty="0"/>
          </a:p>
        </p:txBody>
      </p:sp>
      <p:sp>
        <p:nvSpPr>
          <p:cNvPr id="6" name="Text 4"/>
          <p:cNvSpPr txBox="1"/>
          <p:nvPr/>
        </p:nvSpPr>
        <p:spPr>
          <a:xfrm>
            <a:off x="594360" y="3383280"/>
            <a:ext cx="3393338" cy="731520"/>
          </a:xfrm>
          <a:prstGeom prst="rect">
            <a:avLst/>
          </a:prstGeom>
          <a:noFill/>
          <a:ln/>
        </p:spPr>
        <p:txBody>
          <a:bodyPr wrap="square" lIns="0" tIns="0" rIns="0" bIns="0" rtlCol="0" anchor="t"/>
          <a:lstStyle/>
          <a:p>
            <a:pPr algn="l" indent="0" marL="0">
              <a:lnSpc>
                <a:spcPct val="110000"/>
              </a:lnSpc>
              <a:buNone/>
            </a:pPr>
            <a:r>
              <a:rPr lang="en-US" sz="2000" dirty="0">
                <a:solidFill>
                  <a:srgbClr val="F6F1E9"/>
                </a:solidFill>
                <a:latin typeface="Georgia" pitchFamily="34" charset="0"/>
                <a:ea typeface="Georgia" pitchFamily="34" charset="-122"/>
                <a:cs typeface="Georgia" pitchFamily="34" charset="-120"/>
              </a:rPr>
              <a:t>Speech-to-speech got real</a:t>
            </a:r>
            <a:endParaRPr lang="en-US" sz="2000" dirty="0"/>
          </a:p>
        </p:txBody>
      </p:sp>
      <p:sp>
        <p:nvSpPr>
          <p:cNvPr id="7" name="Text 5"/>
          <p:cNvSpPr txBox="1"/>
          <p:nvPr/>
        </p:nvSpPr>
        <p:spPr>
          <a:xfrm>
            <a:off x="594360" y="4160520"/>
            <a:ext cx="3393338" cy="1463040"/>
          </a:xfrm>
          <a:prstGeom prst="rect">
            <a:avLst/>
          </a:prstGeom>
          <a:noFill/>
          <a:ln/>
        </p:spPr>
        <p:txBody>
          <a:bodyPr wrap="square" lIns="0" tIns="0" rIns="0" bIns="0" rtlCol="0" anchor="t"/>
          <a:lstStyle/>
          <a:p>
            <a:pPr algn="l" indent="0" marL="0">
              <a:lnSpc>
                <a:spcPct val="120000"/>
              </a:lnSpc>
              <a:buNone/>
            </a:pPr>
            <a:r>
              <a:rPr lang="en-US" sz="1300" dirty="0">
                <a:solidFill>
                  <a:srgbClr val="D9D2C6"/>
                </a:solidFill>
                <a:latin typeface="Arial" pitchFamily="34" charset="0"/>
                <a:ea typeface="Arial" pitchFamily="34" charset="-122"/>
                <a:cs typeface="Arial" pitchFamily="34" charset="-120"/>
              </a:rPr>
              <a:t>Higgs Realtime: ~0.7 s latency, 100+ languages, ~90% cheaper than incumbents. Interruption handling is what makes an interview feel human.</a:t>
            </a:r>
            <a:endParaRPr lang="en-US" sz="1300" dirty="0"/>
          </a:p>
        </p:txBody>
      </p:sp>
      <p:sp>
        <p:nvSpPr>
          <p:cNvPr id="8" name="Text 6"/>
          <p:cNvSpPr txBox="1"/>
          <p:nvPr/>
        </p:nvSpPr>
        <p:spPr>
          <a:xfrm>
            <a:off x="4399178" y="1874520"/>
            <a:ext cx="3393338" cy="960120"/>
          </a:xfrm>
          <a:prstGeom prst="rect">
            <a:avLst/>
          </a:prstGeom>
          <a:noFill/>
          <a:ln/>
        </p:spPr>
        <p:txBody>
          <a:bodyPr wrap="square" lIns="0" tIns="0" rIns="0" bIns="0" rtlCol="0" anchor="ctr"/>
          <a:lstStyle/>
          <a:p>
            <a:pPr algn="l" indent="0" marL="0">
              <a:buNone/>
            </a:pPr>
            <a:r>
              <a:rPr lang="en-US" sz="6000" dirty="0">
                <a:solidFill>
                  <a:srgbClr val="E8B36B"/>
                </a:solidFill>
                <a:latin typeface="Georgia" pitchFamily="34" charset="0"/>
                <a:ea typeface="Georgia" pitchFamily="34" charset="-122"/>
                <a:cs typeface="Georgia" pitchFamily="34" charset="-120"/>
              </a:rPr>
              <a:t>~1 s</a:t>
            </a:r>
            <a:endParaRPr lang="en-US" sz="6000" dirty="0"/>
          </a:p>
        </p:txBody>
      </p:sp>
      <p:sp>
        <p:nvSpPr>
          <p:cNvPr id="9" name="Text 7"/>
          <p:cNvSpPr txBox="1"/>
          <p:nvPr/>
        </p:nvSpPr>
        <p:spPr>
          <a:xfrm>
            <a:off x="4399178" y="2852928"/>
            <a:ext cx="3393338" cy="274320"/>
          </a:xfrm>
          <a:prstGeom prst="rect">
            <a:avLst/>
          </a:prstGeom>
          <a:noFill/>
          <a:ln/>
        </p:spPr>
        <p:txBody>
          <a:bodyPr wrap="square" lIns="0" tIns="0" rIns="0" bIns="0" rtlCol="0" anchor="t"/>
          <a:lstStyle/>
          <a:p>
            <a:pPr algn="l" indent="0" marL="0">
              <a:buNone/>
            </a:pPr>
            <a:r>
              <a:rPr lang="en-US" sz="1100" dirty="0">
                <a:solidFill>
                  <a:srgbClr val="A39B8F"/>
                </a:solidFill>
                <a:latin typeface="Arial" pitchFamily="34" charset="0"/>
                <a:ea typeface="Arial" pitchFamily="34" charset="-122"/>
                <a:cs typeface="Arial" pitchFamily="34" charset="-120"/>
              </a:rPr>
              <a:t>per typed JSON turn</a:t>
            </a:r>
            <a:endParaRPr lang="en-US" sz="1100" dirty="0"/>
          </a:p>
        </p:txBody>
      </p:sp>
      <p:sp>
        <p:nvSpPr>
          <p:cNvPr id="10" name="Text 8"/>
          <p:cNvSpPr txBox="1"/>
          <p:nvPr/>
        </p:nvSpPr>
        <p:spPr>
          <a:xfrm>
            <a:off x="4399178" y="3383280"/>
            <a:ext cx="3393338" cy="731520"/>
          </a:xfrm>
          <a:prstGeom prst="rect">
            <a:avLst/>
          </a:prstGeom>
          <a:noFill/>
          <a:ln/>
        </p:spPr>
        <p:txBody>
          <a:bodyPr wrap="square" lIns="0" tIns="0" rIns="0" bIns="0" rtlCol="0" anchor="t"/>
          <a:lstStyle/>
          <a:p>
            <a:pPr algn="l" indent="0" marL="0">
              <a:lnSpc>
                <a:spcPct val="110000"/>
              </a:lnSpc>
              <a:buNone/>
            </a:pPr>
            <a:r>
              <a:rPr lang="en-US" sz="2000" dirty="0">
                <a:solidFill>
                  <a:srgbClr val="F6F1E9"/>
                </a:solidFill>
                <a:latin typeface="Georgia" pitchFamily="34" charset="0"/>
                <a:ea typeface="Georgia" pitchFamily="34" charset="-122"/>
                <a:cs typeface="Georgia" pitchFamily="34" charset="-120"/>
              </a:rPr>
              <a:t>Models can structure speech reliably</a:t>
            </a:r>
            <a:endParaRPr lang="en-US" sz="2000" dirty="0"/>
          </a:p>
        </p:txBody>
      </p:sp>
      <p:sp>
        <p:nvSpPr>
          <p:cNvPr id="11" name="Text 9"/>
          <p:cNvSpPr txBox="1"/>
          <p:nvPr/>
        </p:nvSpPr>
        <p:spPr>
          <a:xfrm>
            <a:off x="4399178" y="4160520"/>
            <a:ext cx="3393338" cy="1463040"/>
          </a:xfrm>
          <a:prstGeom prst="rect">
            <a:avLst/>
          </a:prstGeom>
          <a:noFill/>
          <a:ln/>
        </p:spPr>
        <p:txBody>
          <a:bodyPr wrap="square" lIns="0" tIns="0" rIns="0" bIns="0" rtlCol="0" anchor="t"/>
          <a:lstStyle/>
          <a:p>
            <a:pPr algn="l" indent="0" marL="0">
              <a:lnSpc>
                <a:spcPct val="120000"/>
              </a:lnSpc>
              <a:buNone/>
            </a:pPr>
            <a:r>
              <a:rPr lang="en-US" sz="1300" dirty="0">
                <a:solidFill>
                  <a:srgbClr val="D9D2C6"/>
                </a:solidFill>
                <a:latin typeface="Arial" pitchFamily="34" charset="0"/>
                <a:ea typeface="Arial" pitchFamily="34" charset="-122"/>
                <a:cs typeface="Arial" pitchFamily="34" charset="-120"/>
              </a:rPr>
              <a:t>Qwen3-class open models return typed JSON atoms in about a second, and per-turn cost is cents — so every answer can be structured as it is spoken.</a:t>
            </a:r>
            <a:endParaRPr lang="en-US" sz="1300" dirty="0"/>
          </a:p>
        </p:txBody>
      </p:sp>
      <p:sp>
        <p:nvSpPr>
          <p:cNvPr id="12" name="Text 10"/>
          <p:cNvSpPr txBox="1"/>
          <p:nvPr/>
        </p:nvSpPr>
        <p:spPr>
          <a:xfrm>
            <a:off x="8203997" y="1874520"/>
            <a:ext cx="3393338" cy="960120"/>
          </a:xfrm>
          <a:prstGeom prst="rect">
            <a:avLst/>
          </a:prstGeom>
          <a:noFill/>
          <a:ln/>
        </p:spPr>
        <p:txBody>
          <a:bodyPr wrap="square" lIns="0" tIns="0" rIns="0" bIns="0" rtlCol="0" anchor="ctr"/>
          <a:lstStyle/>
          <a:p>
            <a:pPr algn="l" indent="0" marL="0">
              <a:buNone/>
            </a:pPr>
            <a:r>
              <a:rPr lang="en-US" sz="6000" dirty="0">
                <a:solidFill>
                  <a:srgbClr val="E8B36B"/>
                </a:solidFill>
                <a:latin typeface="Georgia" pitchFamily="34" charset="0"/>
                <a:ea typeface="Georgia" pitchFamily="34" charset="-122"/>
                <a:cs typeface="Georgia" pitchFamily="34" charset="-120"/>
              </a:rPr>
              <a:t>4.1M</a:t>
            </a:r>
            <a:endParaRPr lang="en-US" sz="6000" dirty="0"/>
          </a:p>
        </p:txBody>
      </p:sp>
      <p:sp>
        <p:nvSpPr>
          <p:cNvPr id="13" name="Text 11"/>
          <p:cNvSpPr txBox="1"/>
          <p:nvPr/>
        </p:nvSpPr>
        <p:spPr>
          <a:xfrm>
            <a:off x="8203997" y="2852928"/>
            <a:ext cx="3393338" cy="274320"/>
          </a:xfrm>
          <a:prstGeom prst="rect">
            <a:avLst/>
          </a:prstGeom>
          <a:noFill/>
          <a:ln/>
        </p:spPr>
        <p:txBody>
          <a:bodyPr wrap="square" lIns="0" tIns="0" rIns="0" bIns="0" rtlCol="0" anchor="t"/>
          <a:lstStyle/>
          <a:p>
            <a:pPr algn="l" indent="0" marL="0">
              <a:buNone/>
            </a:pPr>
            <a:r>
              <a:rPr lang="en-US" sz="1100" dirty="0">
                <a:solidFill>
                  <a:srgbClr val="A39B8F"/>
                </a:solidFill>
                <a:latin typeface="Arial" pitchFamily="34" charset="0"/>
                <a:ea typeface="Arial" pitchFamily="34" charset="-122"/>
                <a:cs typeface="Arial" pitchFamily="34" charset="-120"/>
              </a:rPr>
              <a:t>Americans turn 65 each year, 2024–2027</a:t>
            </a:r>
            <a:endParaRPr lang="en-US" sz="1100" dirty="0"/>
          </a:p>
        </p:txBody>
      </p:sp>
      <p:sp>
        <p:nvSpPr>
          <p:cNvPr id="14" name="Text 12"/>
          <p:cNvSpPr txBox="1"/>
          <p:nvPr/>
        </p:nvSpPr>
        <p:spPr>
          <a:xfrm>
            <a:off x="8203997" y="3383280"/>
            <a:ext cx="3393338" cy="731520"/>
          </a:xfrm>
          <a:prstGeom prst="rect">
            <a:avLst/>
          </a:prstGeom>
          <a:noFill/>
          <a:ln/>
        </p:spPr>
        <p:txBody>
          <a:bodyPr wrap="square" lIns="0" tIns="0" rIns="0" bIns="0" rtlCol="0" anchor="t"/>
          <a:lstStyle/>
          <a:p>
            <a:pPr algn="l" indent="0" marL="0">
              <a:lnSpc>
                <a:spcPct val="110000"/>
              </a:lnSpc>
              <a:buNone/>
            </a:pPr>
            <a:r>
              <a:rPr lang="en-US" sz="2000" dirty="0">
                <a:solidFill>
                  <a:srgbClr val="F6F1E9"/>
                </a:solidFill>
                <a:latin typeface="Georgia" pitchFamily="34" charset="0"/>
                <a:ea typeface="Georgia" pitchFamily="34" charset="-122"/>
                <a:cs typeface="Georgia" pitchFamily="34" charset="-120"/>
              </a:rPr>
              <a:t>Peak 65 is here</a:t>
            </a:r>
            <a:endParaRPr lang="en-US" sz="2000" dirty="0"/>
          </a:p>
        </p:txBody>
      </p:sp>
      <p:sp>
        <p:nvSpPr>
          <p:cNvPr id="15" name="Text 13"/>
          <p:cNvSpPr txBox="1"/>
          <p:nvPr/>
        </p:nvSpPr>
        <p:spPr>
          <a:xfrm>
            <a:off x="8203997" y="4160520"/>
            <a:ext cx="3393338" cy="1463040"/>
          </a:xfrm>
          <a:prstGeom prst="rect">
            <a:avLst/>
          </a:prstGeom>
          <a:noFill/>
          <a:ln/>
        </p:spPr>
        <p:txBody>
          <a:bodyPr wrap="square" lIns="0" tIns="0" rIns="0" bIns="0" rtlCol="0" anchor="t"/>
          <a:lstStyle/>
          <a:p>
            <a:pPr algn="l" indent="0" marL="0">
              <a:lnSpc>
                <a:spcPct val="120000"/>
              </a:lnSpc>
              <a:buNone/>
            </a:pPr>
            <a:r>
              <a:rPr lang="en-US" sz="1300" dirty="0">
                <a:solidFill>
                  <a:srgbClr val="D9D2C6"/>
                </a:solidFill>
                <a:latin typeface="Arial" pitchFamily="34" charset="0"/>
                <a:ea typeface="Arial" pitchFamily="34" charset="-122"/>
                <a:cs typeface="Arial" pitchFamily="34" charset="-120"/>
              </a:rPr>
              <a:t>The largest retirement wave in US history. Banking, utilities, manufacturing and the public sector are the most exposed.</a:t>
            </a:r>
            <a:endParaRPr lang="en-US" sz="1300" dirty="0"/>
          </a:p>
        </p:txBody>
      </p:sp>
      <p:sp>
        <p:nvSpPr>
          <p:cNvPr id="16" name="Text 14"/>
          <p:cNvSpPr txBox="1"/>
          <p:nvPr/>
        </p:nvSpPr>
        <p:spPr>
          <a:xfrm>
            <a:off x="594360" y="5760720"/>
            <a:ext cx="11002975" cy="411480"/>
          </a:xfrm>
          <a:prstGeom prst="rect">
            <a:avLst/>
          </a:prstGeom>
          <a:noFill/>
          <a:ln/>
        </p:spPr>
        <p:txBody>
          <a:bodyPr wrap="square" lIns="0" tIns="0" rIns="0" bIns="0" rtlCol="0" anchor="t"/>
          <a:lstStyle/>
          <a:p>
            <a:pPr algn="l" indent="0" marL="0">
              <a:buNone/>
            </a:pPr>
            <a:r>
              <a:rPr lang="en-US" sz="1800" i="1" dirty="0">
                <a:solidFill>
                  <a:srgbClr val="E8B36B"/>
                </a:solidFill>
                <a:latin typeface="Georgia" pitchFamily="34" charset="0"/>
                <a:ea typeface="Georgia" pitchFamily="34" charset="-122"/>
                <a:cs typeface="Georgia" pitchFamily="34" charset="-120"/>
              </a:rPr>
              <a:t>The technology got good in the same window the people are leaving.</a:t>
            </a:r>
            <a:endParaRPr lang="en-US" sz="1800" dirty="0"/>
          </a:p>
        </p:txBody>
      </p:sp>
      <p:sp>
        <p:nvSpPr>
          <p:cNvPr id="17" name="Text 15"/>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7C756A"/>
                </a:solidFill>
                <a:latin typeface="Georgia" pitchFamily="34" charset="0"/>
                <a:ea typeface="Georgia" pitchFamily="34" charset="-122"/>
                <a:cs typeface="Georgia" pitchFamily="34" charset="-120"/>
              </a:rPr>
              <a:t>Tacit</a:t>
            </a:r>
            <a:endParaRPr lang="en-US" sz="1200" dirty="0"/>
          </a:p>
        </p:txBody>
      </p:sp>
      <p:sp>
        <p:nvSpPr>
          <p:cNvPr id="18" name="Text 16"/>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7C756A"/>
                </a:solidFill>
                <a:latin typeface="Arial" pitchFamily="34" charset="0"/>
                <a:ea typeface="Arial" pitchFamily="34" charset="-122"/>
                <a:cs typeface="Arial" pitchFamily="34" charset="-120"/>
              </a:rPr>
              <a:t>OSS4AI · Build an AI Startup in One Day    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303580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BUSINESS MODEL &amp; GO-TO-MARKET</a:t>
            </a:r>
            <a:endParaRPr lang="en-US" sz="900" dirty="0"/>
          </a:p>
        </p:txBody>
      </p:sp>
      <p:sp>
        <p:nvSpPr>
          <p:cNvPr id="3" name="Text 1"/>
          <p:cNvSpPr txBox="1"/>
          <p:nvPr/>
        </p:nvSpPr>
        <p:spPr>
          <a:xfrm>
            <a:off x="594360" y="868680"/>
            <a:ext cx="11002975" cy="1097280"/>
          </a:xfrm>
          <a:prstGeom prst="rect">
            <a:avLst/>
          </a:prstGeom>
          <a:noFill/>
          <a:ln/>
        </p:spPr>
        <p:txBody>
          <a:bodyPr wrap="square" lIns="0" tIns="0" rIns="0" bIns="0" rtlCol="0" anchor="t"/>
          <a:lstStyle/>
          <a:p>
            <a:pPr algn="l" indent="0" marL="0">
              <a:lnSpc>
                <a:spcPct val="105000"/>
              </a:lnSpc>
              <a:buNone/>
            </a:pPr>
            <a:r>
              <a:rPr lang="en-US" sz="3400" dirty="0">
                <a:solidFill>
                  <a:srgbClr val="1C1A17"/>
                </a:solidFill>
                <a:latin typeface="Georgia" pitchFamily="34" charset="0"/>
                <a:ea typeface="Georgia" pitchFamily="34" charset="-122"/>
                <a:cs typeface="Georgia" pitchFamily="34" charset="-120"/>
              </a:rPr>
              <a:t>Wedge: HR offboarding —</a:t>
            </a:r>
            <a:endParaRPr lang="en-US" sz="3400" dirty="0"/>
          </a:p>
          <a:p>
            <a:pPr algn="l" indent="0" marL="0">
              <a:lnSpc>
                <a:spcPct val="105000"/>
              </a:lnSpc>
              <a:buNone/>
            </a:pPr>
            <a:r>
              <a:rPr lang="en-US" sz="3400" dirty="0">
                <a:solidFill>
                  <a:srgbClr val="1C1A17"/>
                </a:solidFill>
                <a:latin typeface="Georgia" pitchFamily="34" charset="0"/>
                <a:ea typeface="Georgia" pitchFamily="34" charset="-122"/>
                <a:cs typeface="Georgia" pitchFamily="34" charset="-120"/>
              </a:rPr>
              <a:t>one capture per departing expert.</a:t>
            </a:r>
            <a:endParaRPr lang="en-US" sz="3400" dirty="0"/>
          </a:p>
        </p:txBody>
      </p:sp>
      <p:sp>
        <p:nvSpPr>
          <p:cNvPr id="4" name="Text 2"/>
          <p:cNvSpPr txBox="1"/>
          <p:nvPr/>
        </p:nvSpPr>
        <p:spPr>
          <a:xfrm>
            <a:off x="594360" y="2148840"/>
            <a:ext cx="5029200" cy="256032"/>
          </a:xfrm>
          <a:prstGeom prst="rect">
            <a:avLst/>
          </a:prstGeom>
          <a:noFill/>
          <a:ln/>
        </p:spPr>
        <p:txBody>
          <a:bodyPr wrap="square" lIns="0" tIns="0" rIns="0" bIns="0" rtlCol="0" anchor="t"/>
          <a:lstStyle/>
          <a:p>
            <a:pPr algn="l" indent="0" marL="0">
              <a:buNone/>
            </a:pPr>
            <a:r>
              <a:rPr lang="en-US" sz="1000" b="1" spc="150" kern="0" dirty="0">
                <a:solidFill>
                  <a:srgbClr val="8A8377"/>
                </a:solidFill>
                <a:latin typeface="Arial" pitchFamily="34" charset="0"/>
                <a:ea typeface="Arial" pitchFamily="34" charset="-122"/>
                <a:cs typeface="Arial" pitchFamily="34" charset="-120"/>
              </a:rPr>
              <a:t>PRICING · PROPOSED</a:t>
            </a:r>
            <a:endParaRPr lang="en-US" sz="1000" dirty="0"/>
          </a:p>
        </p:txBody>
      </p:sp>
      <p:sp>
        <p:nvSpPr>
          <p:cNvPr id="5" name="Shape 3"/>
          <p:cNvSpPr/>
          <p:nvPr/>
        </p:nvSpPr>
        <p:spPr>
          <a:xfrm>
            <a:off x="594360" y="2487168"/>
            <a:ext cx="5029200" cy="1371600"/>
          </a:xfrm>
          <a:prstGeom prst="roundRect">
            <a:avLst>
              <a:gd name="adj" fmla="val 6667"/>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6" name="Text 4"/>
          <p:cNvSpPr txBox="1"/>
          <p:nvPr/>
        </p:nvSpPr>
        <p:spPr>
          <a:xfrm>
            <a:off x="868680" y="2651760"/>
            <a:ext cx="4480560" cy="548640"/>
          </a:xfrm>
          <a:prstGeom prst="rect">
            <a:avLst/>
          </a:prstGeom>
          <a:noFill/>
          <a:ln/>
        </p:spPr>
        <p:txBody>
          <a:bodyPr wrap="square" lIns="0" tIns="0" rIns="0" bIns="0" rtlCol="0" anchor="ctr"/>
          <a:lstStyle/>
          <a:p>
            <a:pPr indent="0" marL="0">
              <a:buNone/>
            </a:pPr>
            <a:r>
              <a:rPr lang="en-US" sz="3400" dirty="0">
                <a:solidFill>
                  <a:srgbClr val="B8541E"/>
                </a:solidFill>
                <a:latin typeface="Georgia" pitchFamily="34" charset="0"/>
                <a:ea typeface="Georgia" pitchFamily="34" charset="-122"/>
                <a:cs typeface="Georgia" pitchFamily="34" charset="-120"/>
              </a:rPr>
              <a:t>$1,500</a:t>
            </a:r>
            <a:pPr indent="0" marL="0">
              <a:buNone/>
            </a:pPr>
            <a:r>
              <a:rPr lang="en-US" sz="1300" dirty="0">
                <a:solidFill>
                  <a:srgbClr val="1C1A17"/>
                </a:solidFill>
                <a:latin typeface="Arial" pitchFamily="34" charset="0"/>
                <a:ea typeface="Arial" pitchFamily="34" charset="-122"/>
                <a:cs typeface="Arial" pitchFamily="34" charset="-120"/>
              </a:rPr>
              <a:t>   per capture</a:t>
            </a:r>
            <a:endParaRPr lang="en-US" sz="3400" dirty="0"/>
          </a:p>
        </p:txBody>
      </p:sp>
      <p:sp>
        <p:nvSpPr>
          <p:cNvPr id="7" name="Text 5"/>
          <p:cNvSpPr txBox="1"/>
          <p:nvPr/>
        </p:nvSpPr>
        <p:spPr>
          <a:xfrm>
            <a:off x="868680" y="3246120"/>
            <a:ext cx="4480560" cy="502920"/>
          </a:xfrm>
          <a:prstGeom prst="rect">
            <a:avLst/>
          </a:prstGeom>
          <a:noFill/>
          <a:ln/>
        </p:spPr>
        <p:txBody>
          <a:bodyPr wrap="square" lIns="0" tIns="0" rIns="0" bIns="0" rtlCol="0" anchor="t"/>
          <a:lstStyle/>
          <a:p>
            <a:pPr algn="l" indent="0" marL="0">
              <a:lnSpc>
                <a:spcPct val="115000"/>
              </a:lnSpc>
              <a:buNone/>
            </a:pPr>
            <a:r>
              <a:rPr lang="en-US" sz="1200" dirty="0">
                <a:solidFill>
                  <a:srgbClr val="3B3631"/>
                </a:solidFill>
                <a:latin typeface="Arial" pitchFamily="34" charset="0"/>
                <a:ea typeface="Arial" pitchFamily="34" charset="-122"/>
                <a:cs typeface="Arial" pitchFamily="34" charset="-120"/>
              </a:rPr>
              <a:t>One departing expert: interviews, knowledge base, twin and handover document.</a:t>
            </a:r>
            <a:endParaRPr lang="en-US" sz="1200" dirty="0"/>
          </a:p>
        </p:txBody>
      </p:sp>
      <p:sp>
        <p:nvSpPr>
          <p:cNvPr id="8" name="Shape 6"/>
          <p:cNvSpPr/>
          <p:nvPr/>
        </p:nvSpPr>
        <p:spPr>
          <a:xfrm>
            <a:off x="594360" y="4023360"/>
            <a:ext cx="5029200" cy="1417320"/>
          </a:xfrm>
          <a:prstGeom prst="roundRect">
            <a:avLst>
              <a:gd name="adj" fmla="val 6452"/>
            </a:avLst>
          </a:prstGeom>
          <a:solidFill>
            <a:srgbClr val="FFFFFF"/>
          </a:solidFill>
          <a:ln w="9525">
            <a:solidFill>
              <a:srgbClr val="E3DCD1"/>
            </a:solidFill>
            <a:prstDash val="solid"/>
          </a:ln>
          <a:effectLst>
            <a:outerShdw sx="100000" sy="100000" kx="0" ky="0" algn="bl" rotWithShape="0" blurRad="76200" dist="19050" dir="5400000">
              <a:srgbClr val="1C1A17">
                <a:alpha val="8000"/>
              </a:srgbClr>
            </a:outerShdw>
          </a:effectLst>
        </p:spPr>
      </p:sp>
      <p:sp>
        <p:nvSpPr>
          <p:cNvPr id="9" name="Text 7"/>
          <p:cNvSpPr txBox="1"/>
          <p:nvPr/>
        </p:nvSpPr>
        <p:spPr>
          <a:xfrm>
            <a:off x="868680" y="4187952"/>
            <a:ext cx="4480560" cy="548640"/>
          </a:xfrm>
          <a:prstGeom prst="rect">
            <a:avLst/>
          </a:prstGeom>
          <a:noFill/>
          <a:ln/>
        </p:spPr>
        <p:txBody>
          <a:bodyPr wrap="square" lIns="0" tIns="0" rIns="0" bIns="0" rtlCol="0" anchor="ctr"/>
          <a:lstStyle/>
          <a:p>
            <a:pPr indent="0" marL="0">
              <a:buNone/>
            </a:pPr>
            <a:r>
              <a:rPr lang="en-US" sz="3400" dirty="0">
                <a:solidFill>
                  <a:srgbClr val="B8541E"/>
                </a:solidFill>
                <a:latin typeface="Georgia" pitchFamily="34" charset="0"/>
                <a:ea typeface="Georgia" pitchFamily="34" charset="-122"/>
                <a:cs typeface="Georgia" pitchFamily="34" charset="-120"/>
              </a:rPr>
              <a:t>$60k</a:t>
            </a:r>
            <a:pPr indent="0" marL="0">
              <a:buNone/>
            </a:pPr>
            <a:r>
              <a:rPr lang="en-US" sz="2000" dirty="0">
                <a:solidFill>
                  <a:srgbClr val="B8541E"/>
                </a:solidFill>
                <a:latin typeface="Georgia" pitchFamily="34" charset="0"/>
                <a:ea typeface="Georgia" pitchFamily="34" charset="-122"/>
                <a:cs typeface="Georgia" pitchFamily="34" charset="-120"/>
              </a:rPr>
              <a:t> / yr</a:t>
            </a:r>
            <a:pPr indent="0" marL="0">
              <a:buNone/>
            </a:pPr>
            <a:r>
              <a:rPr lang="en-US" sz="1300" dirty="0">
                <a:solidFill>
                  <a:srgbClr val="1C1A17"/>
                </a:solidFill>
                <a:latin typeface="Arial" pitchFamily="34" charset="0"/>
                <a:ea typeface="Arial" pitchFamily="34" charset="-122"/>
                <a:cs typeface="Arial" pitchFamily="34" charset="-120"/>
              </a:rPr>
              <a:t>   enterprise platform</a:t>
            </a:r>
            <a:endParaRPr lang="en-US" sz="3400" dirty="0"/>
          </a:p>
        </p:txBody>
      </p:sp>
      <p:sp>
        <p:nvSpPr>
          <p:cNvPr id="10" name="Text 8"/>
          <p:cNvSpPr txBox="1"/>
          <p:nvPr/>
        </p:nvSpPr>
        <p:spPr>
          <a:xfrm>
            <a:off x="868680" y="4782312"/>
            <a:ext cx="4480560" cy="731520"/>
          </a:xfrm>
          <a:prstGeom prst="rect">
            <a:avLst/>
          </a:prstGeom>
          <a:noFill/>
          <a:ln/>
        </p:spPr>
        <p:txBody>
          <a:bodyPr wrap="square" lIns="0" tIns="0" rIns="0" bIns="0" rtlCol="0" anchor="t"/>
          <a:lstStyle/>
          <a:p>
            <a:pPr algn="l" indent="0" marL="0">
              <a:lnSpc>
                <a:spcPct val="115000"/>
              </a:lnSpc>
              <a:buNone/>
            </a:pPr>
            <a:r>
              <a:rPr lang="en-US" sz="1200" dirty="0">
                <a:solidFill>
                  <a:srgbClr val="3B3631"/>
                </a:solidFill>
                <a:latin typeface="Arial" pitchFamily="34" charset="0"/>
                <a:ea typeface="Arial" pitchFamily="34" charset="-122"/>
                <a:cs typeface="Arial" pitchFamily="34" charset="-120"/>
              </a:rPr>
              <a:t>Unlimited captures, SSO, Confluence / Notion / SharePoint export, phone interviews.</a:t>
            </a:r>
            <a:endParaRPr lang="en-US" sz="1200" dirty="0"/>
          </a:p>
        </p:txBody>
      </p:sp>
      <p:sp>
        <p:nvSpPr>
          <p:cNvPr id="11" name="Text 9"/>
          <p:cNvSpPr txBox="1"/>
          <p:nvPr/>
        </p:nvSpPr>
        <p:spPr>
          <a:xfrm>
            <a:off x="6263640" y="2148840"/>
            <a:ext cx="5333695" cy="256032"/>
          </a:xfrm>
          <a:prstGeom prst="rect">
            <a:avLst/>
          </a:prstGeom>
          <a:noFill/>
          <a:ln/>
        </p:spPr>
        <p:txBody>
          <a:bodyPr wrap="square" lIns="0" tIns="0" rIns="0" bIns="0" rtlCol="0" anchor="t"/>
          <a:lstStyle/>
          <a:p>
            <a:pPr algn="l" indent="0" marL="0">
              <a:buNone/>
            </a:pPr>
            <a:r>
              <a:rPr lang="en-US" sz="1000" b="1" spc="150" kern="0" dirty="0">
                <a:solidFill>
                  <a:srgbClr val="B8541E"/>
                </a:solidFill>
                <a:latin typeface="Arial" pitchFamily="34" charset="0"/>
                <a:ea typeface="Arial" pitchFamily="34" charset="-122"/>
                <a:cs typeface="Arial" pitchFamily="34" charset="-120"/>
              </a:rPr>
              <a:t>BUYERS</a:t>
            </a:r>
            <a:endParaRPr lang="en-US" sz="1000" dirty="0"/>
          </a:p>
        </p:txBody>
      </p:sp>
      <p:sp>
        <p:nvSpPr>
          <p:cNvPr id="12" name="Text 10"/>
          <p:cNvSpPr txBox="1"/>
          <p:nvPr/>
        </p:nvSpPr>
        <p:spPr>
          <a:xfrm>
            <a:off x="6263640" y="2432304"/>
            <a:ext cx="5333695" cy="502920"/>
          </a:xfrm>
          <a:prstGeom prst="rect">
            <a:avLst/>
          </a:prstGeom>
          <a:noFill/>
          <a:ln/>
        </p:spPr>
        <p:txBody>
          <a:bodyPr wrap="square" lIns="0" tIns="0" rIns="0" bIns="0" rtlCol="0" anchor="t"/>
          <a:lstStyle/>
          <a:p>
            <a:pPr algn="l" indent="0" marL="0">
              <a:lnSpc>
                <a:spcPct val="120000"/>
              </a:lnSpc>
              <a:buNone/>
            </a:pPr>
            <a:r>
              <a:rPr lang="en-US" sz="1350" dirty="0">
                <a:solidFill>
                  <a:srgbClr val="1C1A17"/>
                </a:solidFill>
                <a:latin typeface="Arial" pitchFamily="34" charset="0"/>
                <a:ea typeface="Arial" pitchFamily="34" charset="-122"/>
                <a:cs typeface="Arial" pitchFamily="34" charset="-120"/>
              </a:rPr>
              <a:t>CHRO / Head of L&amp;D  ·  COO / Ops leaders  ·  Risk &amp; compliance</a:t>
            </a:r>
            <a:endParaRPr lang="en-US" sz="1350" dirty="0"/>
          </a:p>
        </p:txBody>
      </p:sp>
      <p:sp>
        <p:nvSpPr>
          <p:cNvPr id="13" name="Text 11"/>
          <p:cNvSpPr txBox="1"/>
          <p:nvPr/>
        </p:nvSpPr>
        <p:spPr>
          <a:xfrm>
            <a:off x="6263640" y="3108960"/>
            <a:ext cx="5333695" cy="256032"/>
          </a:xfrm>
          <a:prstGeom prst="rect">
            <a:avLst/>
          </a:prstGeom>
          <a:noFill/>
          <a:ln/>
        </p:spPr>
        <p:txBody>
          <a:bodyPr wrap="square" lIns="0" tIns="0" rIns="0" bIns="0" rtlCol="0" anchor="t"/>
          <a:lstStyle/>
          <a:p>
            <a:pPr algn="l" indent="0" marL="0">
              <a:buNone/>
            </a:pPr>
            <a:r>
              <a:rPr lang="en-US" sz="1000" b="1" spc="150" kern="0" dirty="0">
                <a:solidFill>
                  <a:srgbClr val="B8541E"/>
                </a:solidFill>
                <a:latin typeface="Arial" pitchFamily="34" charset="0"/>
                <a:ea typeface="Arial" pitchFamily="34" charset="-122"/>
                <a:cs typeface="Arial" pitchFamily="34" charset="-120"/>
              </a:rPr>
              <a:t>CHANNELS</a:t>
            </a:r>
            <a:endParaRPr lang="en-US" sz="1000" dirty="0"/>
          </a:p>
        </p:txBody>
      </p:sp>
      <p:sp>
        <p:nvSpPr>
          <p:cNvPr id="14" name="Text 12"/>
          <p:cNvSpPr txBox="1"/>
          <p:nvPr/>
        </p:nvSpPr>
        <p:spPr>
          <a:xfrm>
            <a:off x="6263640" y="3392424"/>
            <a:ext cx="5333695" cy="868680"/>
          </a:xfrm>
          <a:prstGeom prst="rect">
            <a:avLst/>
          </a:prstGeom>
          <a:noFill/>
          <a:ln/>
        </p:spPr>
        <p:txBody>
          <a:bodyPr wrap="square" lIns="0" tIns="0" rIns="0" bIns="0" rtlCol="0" anchor="t"/>
          <a:lstStyle/>
          <a:p>
            <a:pPr algn="l" indent="0" marL="0">
              <a:lnSpc>
                <a:spcPct val="120000"/>
              </a:lnSpc>
              <a:buNone/>
            </a:pPr>
            <a:r>
              <a:rPr lang="en-US" sz="1350" dirty="0">
                <a:solidFill>
                  <a:srgbClr val="1C1A17"/>
                </a:solidFill>
                <a:latin typeface="Arial" pitchFamily="34" charset="0"/>
                <a:ea typeface="Arial" pitchFamily="34" charset="-122"/>
                <a:cs typeface="Arial" pitchFamily="34" charset="-120"/>
              </a:rPr>
              <a:t>HRIS marketplaces (Workday, SAP SuccessFactors)  ·  Big-4 advisory knowledge-transfer practices  ·  Retirement-heavy sectors: banking, utilities, manufacturing, public sector</a:t>
            </a:r>
            <a:endParaRPr lang="en-US" sz="1350" dirty="0"/>
          </a:p>
        </p:txBody>
      </p:sp>
      <p:sp>
        <p:nvSpPr>
          <p:cNvPr id="15" name="Text 13"/>
          <p:cNvSpPr txBox="1"/>
          <p:nvPr/>
        </p:nvSpPr>
        <p:spPr>
          <a:xfrm>
            <a:off x="6263640" y="4526280"/>
            <a:ext cx="5333695" cy="256032"/>
          </a:xfrm>
          <a:prstGeom prst="rect">
            <a:avLst/>
          </a:prstGeom>
          <a:noFill/>
          <a:ln/>
        </p:spPr>
        <p:txBody>
          <a:bodyPr wrap="square" lIns="0" tIns="0" rIns="0" bIns="0" rtlCol="0" anchor="t"/>
          <a:lstStyle/>
          <a:p>
            <a:pPr algn="l" indent="0" marL="0">
              <a:buNone/>
            </a:pPr>
            <a:r>
              <a:rPr lang="en-US" sz="1000" b="1" spc="150" kern="0" dirty="0">
                <a:solidFill>
                  <a:srgbClr val="B8541E"/>
                </a:solidFill>
                <a:latin typeface="Arial" pitchFamily="34" charset="0"/>
                <a:ea typeface="Arial" pitchFamily="34" charset="-122"/>
                <a:cs typeface="Arial" pitchFamily="34" charset="-120"/>
              </a:rPr>
              <a:t>LAND, THEN EXPAND</a:t>
            </a:r>
            <a:endParaRPr lang="en-US" sz="1000" dirty="0"/>
          </a:p>
        </p:txBody>
      </p:sp>
      <p:sp>
        <p:nvSpPr>
          <p:cNvPr id="16" name="Shape 14"/>
          <p:cNvSpPr/>
          <p:nvPr/>
        </p:nvSpPr>
        <p:spPr>
          <a:xfrm>
            <a:off x="6263640" y="4846320"/>
            <a:ext cx="2392528" cy="868680"/>
          </a:xfrm>
          <a:prstGeom prst="roundRect">
            <a:avLst>
              <a:gd name="adj" fmla="val 10526"/>
            </a:avLst>
          </a:prstGeom>
          <a:solidFill>
            <a:srgbClr val="F4E3D6"/>
          </a:solidFill>
          <a:ln w="9525">
            <a:solidFill>
              <a:srgbClr val="F4E3D6"/>
            </a:solidFill>
            <a:prstDash val="solid"/>
          </a:ln>
        </p:spPr>
      </p:sp>
      <p:sp>
        <p:nvSpPr>
          <p:cNvPr id="17" name="Text 15"/>
          <p:cNvSpPr txBox="1"/>
          <p:nvPr/>
        </p:nvSpPr>
        <p:spPr>
          <a:xfrm>
            <a:off x="6446520" y="4956048"/>
            <a:ext cx="2026768" cy="649224"/>
          </a:xfrm>
          <a:prstGeom prst="rect">
            <a:avLst/>
          </a:prstGeom>
          <a:noFill/>
          <a:ln/>
        </p:spPr>
        <p:txBody>
          <a:bodyPr wrap="square" lIns="0" tIns="0" rIns="0" bIns="0" rtlCol="0" anchor="t"/>
          <a:lstStyle/>
          <a:p>
            <a:pPr indent="0" marL="0">
              <a:spcAft>
                <a:spcPts val="300"/>
              </a:spcAft>
              <a:buNone/>
            </a:pPr>
            <a:r>
              <a:rPr lang="en-US" sz="1500" dirty="0">
                <a:solidFill>
                  <a:srgbClr val="B8541E"/>
                </a:solidFill>
                <a:latin typeface="Georgia" pitchFamily="34" charset="0"/>
                <a:ea typeface="Georgia" pitchFamily="34" charset="-122"/>
                <a:cs typeface="Georgia" pitchFamily="34" charset="-120"/>
              </a:rPr>
              <a:t>Land</a:t>
            </a:r>
            <a:endParaRPr lang="en-US" sz="1500" dirty="0"/>
          </a:p>
          <a:p>
            <a:pPr indent="0" marL="0">
              <a:spcAft>
                <a:spcPts val="300"/>
              </a:spcAft>
              <a:buNone/>
            </a:pPr>
            <a:r>
              <a:rPr lang="en-US" sz="1150" dirty="0">
                <a:solidFill>
                  <a:srgbClr val="1C1A17"/>
                </a:solidFill>
                <a:latin typeface="Arial" pitchFamily="34" charset="0"/>
                <a:ea typeface="Arial" pitchFamily="34" charset="-122"/>
                <a:cs typeface="Arial" pitchFamily="34" charset="-120"/>
              </a:rPr>
              <a:t>Pilot with 5 departing experts in 30 days</a:t>
            </a:r>
            <a:endParaRPr lang="en-US" sz="1500" dirty="0"/>
          </a:p>
        </p:txBody>
      </p:sp>
      <p:sp>
        <p:nvSpPr>
          <p:cNvPr id="18" name="Shape 16"/>
          <p:cNvSpPr/>
          <p:nvPr/>
        </p:nvSpPr>
        <p:spPr>
          <a:xfrm>
            <a:off x="8765896" y="5280660"/>
            <a:ext cx="329184" cy="0"/>
          </a:xfrm>
          <a:prstGeom prst="line">
            <a:avLst/>
          </a:prstGeom>
          <a:noFill/>
          <a:ln w="19050">
            <a:solidFill>
              <a:srgbClr val="B8541E"/>
            </a:solidFill>
            <a:prstDash val="solid"/>
            <a:tailEnd type="triangle"/>
          </a:ln>
        </p:spPr>
      </p:sp>
      <p:sp>
        <p:nvSpPr>
          <p:cNvPr id="19" name="Shape 17"/>
          <p:cNvSpPr/>
          <p:nvPr/>
        </p:nvSpPr>
        <p:spPr>
          <a:xfrm>
            <a:off x="9204808" y="4846320"/>
            <a:ext cx="2392528" cy="868680"/>
          </a:xfrm>
          <a:prstGeom prst="roundRect">
            <a:avLst>
              <a:gd name="adj" fmla="val 10526"/>
            </a:avLst>
          </a:prstGeom>
          <a:solidFill>
            <a:srgbClr val="DEE8E0"/>
          </a:solidFill>
          <a:ln w="9525">
            <a:solidFill>
              <a:srgbClr val="DEE8E0"/>
            </a:solidFill>
            <a:prstDash val="solid"/>
          </a:ln>
        </p:spPr>
      </p:sp>
      <p:sp>
        <p:nvSpPr>
          <p:cNvPr id="20" name="Text 18"/>
          <p:cNvSpPr txBox="1"/>
          <p:nvPr/>
        </p:nvSpPr>
        <p:spPr>
          <a:xfrm>
            <a:off x="9387688" y="4956048"/>
            <a:ext cx="2026768" cy="649224"/>
          </a:xfrm>
          <a:prstGeom prst="rect">
            <a:avLst/>
          </a:prstGeom>
          <a:noFill/>
          <a:ln/>
        </p:spPr>
        <p:txBody>
          <a:bodyPr wrap="square" lIns="0" tIns="0" rIns="0" bIns="0" rtlCol="0" anchor="t"/>
          <a:lstStyle/>
          <a:p>
            <a:pPr indent="0" marL="0">
              <a:spcAft>
                <a:spcPts val="300"/>
              </a:spcAft>
              <a:buNone/>
            </a:pPr>
            <a:r>
              <a:rPr lang="en-US" sz="1500" dirty="0">
                <a:solidFill>
                  <a:srgbClr val="4F7D5C"/>
                </a:solidFill>
                <a:latin typeface="Georgia" pitchFamily="34" charset="0"/>
                <a:ea typeface="Georgia" pitchFamily="34" charset="-122"/>
                <a:cs typeface="Georgia" pitchFamily="34" charset="-120"/>
              </a:rPr>
              <a:t>Expand</a:t>
            </a:r>
            <a:endParaRPr lang="en-US" sz="1500" dirty="0"/>
          </a:p>
          <a:p>
            <a:pPr indent="0" marL="0">
              <a:spcAft>
                <a:spcPts val="300"/>
              </a:spcAft>
              <a:buNone/>
            </a:pPr>
            <a:r>
              <a:rPr lang="en-US" sz="1150" dirty="0">
                <a:solidFill>
                  <a:srgbClr val="1C1A17"/>
                </a:solidFill>
                <a:latin typeface="Arial" pitchFamily="34" charset="0"/>
                <a:ea typeface="Arial" pitchFamily="34" charset="-122"/>
                <a:cs typeface="Arial" pitchFamily="34" charset="-120"/>
              </a:rPr>
              <a:t>Every offboarding, on the enterprise platform</a:t>
            </a:r>
            <a:endParaRPr lang="en-US" sz="1500" dirty="0"/>
          </a:p>
        </p:txBody>
      </p:sp>
      <p:sp>
        <p:nvSpPr>
          <p:cNvPr id="21" name="Text 19"/>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22" name="Text 20"/>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9"/>
        </a:solidFill>
      </p:bgPr>
    </p:bg>
    <p:spTree>
      <p:nvGrpSpPr>
        <p:cNvPr id="1" name=""/>
        <p:cNvGrpSpPr/>
        <p:nvPr/>
      </p:nvGrpSpPr>
      <p:grpSpPr>
        <a:xfrm>
          <a:off x="0" y="0"/>
          <a:ext cx="0" cy="0"/>
          <a:chOff x="0" y="0"/>
          <a:chExt cx="0" cy="0"/>
        </a:xfrm>
      </p:grpSpPr>
      <p:sp>
        <p:nvSpPr>
          <p:cNvPr id="2" name="Text 0"/>
          <p:cNvSpPr txBox="1"/>
          <p:nvPr/>
        </p:nvSpPr>
        <p:spPr>
          <a:xfrm>
            <a:off x="594360" y="475488"/>
            <a:ext cx="2395728" cy="274320"/>
          </a:xfrm>
          <a:prstGeom prst="roundRect">
            <a:avLst>
              <a:gd name="adj" fmla="val 50000"/>
            </a:avLst>
          </a:prstGeom>
          <a:solidFill>
            <a:srgbClr val="F4E3D6"/>
          </a:solidFill>
          <a:ln/>
        </p:spPr>
        <p:txBody>
          <a:bodyPr wrap="square" lIns="0" tIns="0" rIns="0" bIns="0" rtlCol="0" anchor="ctr"/>
          <a:lstStyle/>
          <a:p>
            <a:pPr algn="ctr" indent="0" marL="0">
              <a:buNone/>
            </a:pPr>
            <a:r>
              <a:rPr lang="en-US" sz="900" b="1" spc="150" kern="0" dirty="0">
                <a:solidFill>
                  <a:srgbClr val="B8541E"/>
                </a:solidFill>
                <a:latin typeface="Arial" pitchFamily="34" charset="0"/>
                <a:ea typeface="Arial" pitchFamily="34" charset="-122"/>
                <a:cs typeface="Arial" pitchFamily="34" charset="-120"/>
              </a:rPr>
              <a:t>MARKET · OUR ESTIMATES</a:t>
            </a:r>
            <a:endParaRPr lang="en-US" sz="900" dirty="0"/>
          </a:p>
        </p:txBody>
      </p:sp>
      <p:sp>
        <p:nvSpPr>
          <p:cNvPr id="3" name="Text 1"/>
          <p:cNvSpPr txBox="1"/>
          <p:nvPr/>
        </p:nvSpPr>
        <p:spPr>
          <a:xfrm>
            <a:off x="594360" y="868680"/>
            <a:ext cx="11002975" cy="1097280"/>
          </a:xfrm>
          <a:prstGeom prst="rect">
            <a:avLst/>
          </a:prstGeom>
          <a:noFill/>
          <a:ln/>
        </p:spPr>
        <p:txBody>
          <a:bodyPr wrap="square" lIns="0" tIns="0" rIns="0" bIns="0" rtlCol="0" anchor="t"/>
          <a:lstStyle/>
          <a:p>
            <a:pPr algn="l" indent="0" marL="0">
              <a:lnSpc>
                <a:spcPct val="105000"/>
              </a:lnSpc>
              <a:buNone/>
            </a:pPr>
            <a:r>
              <a:rPr lang="en-US" sz="3400" dirty="0">
                <a:solidFill>
                  <a:srgbClr val="1C1A17"/>
                </a:solidFill>
                <a:latin typeface="Georgia" pitchFamily="34" charset="0"/>
                <a:ea typeface="Georgia" pitchFamily="34" charset="-122"/>
                <a:cs typeface="Georgia" pitchFamily="34" charset="-120"/>
              </a:rPr>
              <a:t>Every departure is a purchase trigger</a:t>
            </a:r>
            <a:endParaRPr lang="en-US" sz="3400" dirty="0"/>
          </a:p>
          <a:p>
            <a:pPr algn="l" indent="0" marL="0">
              <a:lnSpc>
                <a:spcPct val="105000"/>
              </a:lnSpc>
              <a:buNone/>
            </a:pPr>
            <a:r>
              <a:rPr lang="en-US" sz="3400" dirty="0">
                <a:solidFill>
                  <a:srgbClr val="1C1A17"/>
                </a:solidFill>
                <a:latin typeface="Georgia" pitchFamily="34" charset="0"/>
                <a:ea typeface="Georgia" pitchFamily="34" charset="-122"/>
                <a:cs typeface="Georgia" pitchFamily="34" charset="-120"/>
              </a:rPr>
              <a:t>with a hard deadline.</a:t>
            </a:r>
            <a:endParaRPr lang="en-US" sz="3400" dirty="0"/>
          </a:p>
        </p:txBody>
      </p:sp>
      <p:sp>
        <p:nvSpPr>
          <p:cNvPr id="4" name="Shape 2"/>
          <p:cNvSpPr/>
          <p:nvPr/>
        </p:nvSpPr>
        <p:spPr>
          <a:xfrm>
            <a:off x="960120" y="2194560"/>
            <a:ext cx="3840480" cy="3840480"/>
          </a:xfrm>
          <a:prstGeom prst="ellipse">
            <a:avLst/>
          </a:prstGeom>
          <a:solidFill>
            <a:srgbClr val="E8B36B">
              <a:alpha val="30000"/>
            </a:srgbClr>
          </a:solidFill>
          <a:ln w="12700">
            <a:solidFill>
              <a:srgbClr val="E8B36B"/>
            </a:solidFill>
            <a:prstDash val="solid"/>
          </a:ln>
        </p:spPr>
      </p:sp>
      <p:sp>
        <p:nvSpPr>
          <p:cNvPr id="5" name="Shape 3"/>
          <p:cNvSpPr/>
          <p:nvPr/>
        </p:nvSpPr>
        <p:spPr>
          <a:xfrm>
            <a:off x="1645920" y="3566160"/>
            <a:ext cx="2468880" cy="2468880"/>
          </a:xfrm>
          <a:prstGeom prst="ellipse">
            <a:avLst/>
          </a:prstGeom>
          <a:solidFill>
            <a:srgbClr val="4F7D5C">
              <a:alpha val="40000"/>
            </a:srgbClr>
          </a:solidFill>
          <a:ln w="12700">
            <a:solidFill>
              <a:srgbClr val="4F7D5C"/>
            </a:solidFill>
            <a:prstDash val="solid"/>
          </a:ln>
        </p:spPr>
      </p:sp>
      <p:sp>
        <p:nvSpPr>
          <p:cNvPr id="6" name="Shape 4"/>
          <p:cNvSpPr/>
          <p:nvPr/>
        </p:nvSpPr>
        <p:spPr>
          <a:xfrm>
            <a:off x="2240280" y="4754880"/>
            <a:ext cx="1280160" cy="1280160"/>
          </a:xfrm>
          <a:prstGeom prst="ellipse">
            <a:avLst/>
          </a:prstGeom>
          <a:solidFill>
            <a:srgbClr val="B8541E"/>
          </a:solidFill>
          <a:ln w="12700">
            <a:solidFill>
              <a:srgbClr val="B8541E"/>
            </a:solidFill>
            <a:prstDash val="solid"/>
          </a:ln>
        </p:spPr>
      </p:sp>
      <p:sp>
        <p:nvSpPr>
          <p:cNvPr id="7" name="Text 5"/>
          <p:cNvSpPr txBox="1"/>
          <p:nvPr/>
        </p:nvSpPr>
        <p:spPr>
          <a:xfrm>
            <a:off x="1051560" y="2423160"/>
            <a:ext cx="3657600" cy="777240"/>
          </a:xfrm>
          <a:prstGeom prst="rect">
            <a:avLst/>
          </a:prstGeom>
          <a:noFill/>
          <a:ln/>
        </p:spPr>
        <p:txBody>
          <a:bodyPr wrap="square" lIns="0" tIns="0" rIns="0" bIns="0" rtlCol="0" anchor="t"/>
          <a:lstStyle/>
          <a:p>
            <a:pPr algn="ctr" indent="0" marL="0">
              <a:buNone/>
            </a:pPr>
            <a:r>
              <a:rPr lang="en-US" sz="950" b="1" spc="150" kern="0" dirty="0">
                <a:solidFill>
                  <a:srgbClr val="9A5A14"/>
                </a:solidFill>
                <a:latin typeface="Arial" pitchFamily="34" charset="0"/>
                <a:ea typeface="Arial" pitchFamily="34" charset="-122"/>
                <a:cs typeface="Arial" pitchFamily="34" charset="-120"/>
              </a:rPr>
              <a:t>TAM</a:t>
            </a:r>
            <a:endParaRPr lang="en-US" sz="950" dirty="0"/>
          </a:p>
          <a:p>
            <a:pPr algn="ctr" indent="0" marL="0">
              <a:buNone/>
            </a:pPr>
            <a:r>
              <a:rPr lang="en-US" sz="2400" dirty="0">
                <a:solidFill>
                  <a:srgbClr val="1C1A17"/>
                </a:solidFill>
                <a:latin typeface="Georgia" pitchFamily="34" charset="0"/>
                <a:ea typeface="Georgia" pitchFamily="34" charset="-122"/>
                <a:cs typeface="Georgia" pitchFamily="34" charset="-120"/>
              </a:rPr>
              <a:t>$30B+</a:t>
            </a:r>
            <a:endParaRPr lang="en-US" sz="950" dirty="0"/>
          </a:p>
        </p:txBody>
      </p:sp>
      <p:sp>
        <p:nvSpPr>
          <p:cNvPr id="8" name="Text 6"/>
          <p:cNvSpPr txBox="1"/>
          <p:nvPr/>
        </p:nvSpPr>
        <p:spPr>
          <a:xfrm>
            <a:off x="1645920" y="3749040"/>
            <a:ext cx="2468880" cy="685800"/>
          </a:xfrm>
          <a:prstGeom prst="rect">
            <a:avLst/>
          </a:prstGeom>
          <a:noFill/>
          <a:ln/>
        </p:spPr>
        <p:txBody>
          <a:bodyPr wrap="square" lIns="0" tIns="0" rIns="0" bIns="0" rtlCol="0" anchor="t"/>
          <a:lstStyle/>
          <a:p>
            <a:pPr algn="ctr" indent="0" marL="0">
              <a:buNone/>
            </a:pPr>
            <a:r>
              <a:rPr lang="en-US" sz="950" b="1" spc="150" kern="0" dirty="0">
                <a:solidFill>
                  <a:srgbClr val="4F7D5C"/>
                </a:solidFill>
                <a:latin typeface="Arial" pitchFamily="34" charset="0"/>
                <a:ea typeface="Arial" pitchFamily="34" charset="-122"/>
                <a:cs typeface="Arial" pitchFamily="34" charset="-120"/>
              </a:rPr>
              <a:t>SAM</a:t>
            </a:r>
            <a:endParaRPr lang="en-US" sz="950" dirty="0"/>
          </a:p>
          <a:p>
            <a:pPr algn="ctr" indent="0" marL="0">
              <a:buNone/>
            </a:pPr>
            <a:r>
              <a:rPr lang="en-US" sz="2000" dirty="0">
                <a:solidFill>
                  <a:srgbClr val="1C1A17"/>
                </a:solidFill>
                <a:latin typeface="Georgia" pitchFamily="34" charset="0"/>
                <a:ea typeface="Georgia" pitchFamily="34" charset="-122"/>
                <a:cs typeface="Georgia" pitchFamily="34" charset="-120"/>
              </a:rPr>
              <a:t>$600M / yr</a:t>
            </a:r>
            <a:endParaRPr lang="en-US" sz="950" dirty="0"/>
          </a:p>
        </p:txBody>
      </p:sp>
      <p:sp>
        <p:nvSpPr>
          <p:cNvPr id="9" name="Text 7"/>
          <p:cNvSpPr txBox="1"/>
          <p:nvPr/>
        </p:nvSpPr>
        <p:spPr>
          <a:xfrm>
            <a:off x="2240280" y="5056632"/>
            <a:ext cx="1280160" cy="640080"/>
          </a:xfrm>
          <a:prstGeom prst="rect">
            <a:avLst/>
          </a:prstGeom>
          <a:noFill/>
          <a:ln/>
        </p:spPr>
        <p:txBody>
          <a:bodyPr wrap="square" lIns="0" tIns="0" rIns="0" bIns="0" rtlCol="0" anchor="t"/>
          <a:lstStyle/>
          <a:p>
            <a:pPr algn="ctr" indent="0" marL="0">
              <a:buNone/>
            </a:pPr>
            <a:r>
              <a:rPr lang="en-US" sz="900" b="1" spc="150" kern="0" dirty="0">
                <a:solidFill>
                  <a:srgbClr val="F6F1E9"/>
                </a:solidFill>
                <a:latin typeface="Arial" pitchFamily="34" charset="0"/>
                <a:ea typeface="Arial" pitchFamily="34" charset="-122"/>
                <a:cs typeface="Arial" pitchFamily="34" charset="-120"/>
              </a:rPr>
              <a:t>SOM</a:t>
            </a:r>
            <a:endParaRPr lang="en-US" sz="900" dirty="0"/>
          </a:p>
          <a:p>
            <a:pPr algn="ctr" indent="0" marL="0">
              <a:buNone/>
            </a:pPr>
            <a:r>
              <a:rPr lang="en-US" sz="1500" dirty="0">
                <a:solidFill>
                  <a:srgbClr val="F6F1E9"/>
                </a:solidFill>
                <a:latin typeface="Georgia" pitchFamily="34" charset="0"/>
                <a:ea typeface="Georgia" pitchFamily="34" charset="-122"/>
                <a:cs typeface="Georgia" pitchFamily="34" charset="-120"/>
              </a:rPr>
              <a:t>$36M ARR</a:t>
            </a:r>
            <a:endParaRPr lang="en-US" sz="900" dirty="0"/>
          </a:p>
        </p:txBody>
      </p:sp>
      <p:sp>
        <p:nvSpPr>
          <p:cNvPr id="10" name="Shape 8"/>
          <p:cNvSpPr/>
          <p:nvPr/>
        </p:nvSpPr>
        <p:spPr>
          <a:xfrm>
            <a:off x="5806440" y="2075688"/>
            <a:ext cx="201168" cy="201168"/>
          </a:xfrm>
          <a:prstGeom prst="ellipse">
            <a:avLst/>
          </a:prstGeom>
          <a:solidFill>
            <a:srgbClr val="F5DDB0"/>
          </a:solidFill>
          <a:ln w="9525">
            <a:solidFill>
              <a:srgbClr val="E8B36B"/>
            </a:solidFill>
            <a:prstDash val="solid"/>
          </a:ln>
        </p:spPr>
      </p:sp>
      <p:sp>
        <p:nvSpPr>
          <p:cNvPr id="11" name="Text 9"/>
          <p:cNvSpPr txBox="1"/>
          <p:nvPr/>
        </p:nvSpPr>
        <p:spPr>
          <a:xfrm>
            <a:off x="6172200" y="2011680"/>
            <a:ext cx="5425135" cy="365760"/>
          </a:xfrm>
          <a:prstGeom prst="rect">
            <a:avLst/>
          </a:prstGeom>
          <a:noFill/>
          <a:ln/>
        </p:spPr>
        <p:txBody>
          <a:bodyPr wrap="square" lIns="0" tIns="0" rIns="0" bIns="0" rtlCol="0" anchor="t"/>
          <a:lstStyle/>
          <a:p>
            <a:pPr algn="l" indent="0" marL="0">
              <a:buNone/>
            </a:pPr>
            <a:r>
              <a:rPr lang="en-US" sz="1800" dirty="0">
                <a:solidFill>
                  <a:srgbClr val="1C1A17"/>
                </a:solidFill>
                <a:latin typeface="Georgia" pitchFamily="34" charset="0"/>
                <a:ea typeface="Georgia" pitchFamily="34" charset="-122"/>
                <a:cs typeface="Georgia" pitchFamily="34" charset="-120"/>
              </a:rPr>
              <a:t>TAM · Knowledge-management software</a:t>
            </a:r>
            <a:endParaRPr lang="en-US" sz="1800" dirty="0"/>
          </a:p>
        </p:txBody>
      </p:sp>
      <p:sp>
        <p:nvSpPr>
          <p:cNvPr id="12" name="Text 10"/>
          <p:cNvSpPr txBox="1"/>
          <p:nvPr/>
        </p:nvSpPr>
        <p:spPr>
          <a:xfrm>
            <a:off x="6172200" y="2423160"/>
            <a:ext cx="5425135" cy="685800"/>
          </a:xfrm>
          <a:prstGeom prst="rect">
            <a:avLst/>
          </a:prstGeom>
          <a:noFill/>
          <a:ln/>
        </p:spPr>
        <p:txBody>
          <a:bodyPr wrap="square" lIns="0" tIns="0" rIns="0" bIns="0" rtlCol="0" anchor="t"/>
          <a:lstStyle/>
          <a:p>
            <a:pPr algn="l" indent="0" marL="0">
              <a:lnSpc>
                <a:spcPct val="120000"/>
              </a:lnSpc>
              <a:buNone/>
            </a:pPr>
            <a:r>
              <a:rPr lang="en-US" sz="1250" dirty="0">
                <a:solidFill>
                  <a:srgbClr val="3B3631"/>
                </a:solidFill>
                <a:latin typeface="Arial" pitchFamily="34" charset="0"/>
                <a:ea typeface="Arial" pitchFamily="34" charset="-122"/>
                <a:cs typeface="Arial" pitchFamily="34" charset="-120"/>
              </a:rPr>
              <a:t>≈ $30B+ globally and growing double digits.</a:t>
            </a:r>
            <a:endParaRPr lang="en-US" sz="1250" dirty="0"/>
          </a:p>
        </p:txBody>
      </p:sp>
      <p:sp>
        <p:nvSpPr>
          <p:cNvPr id="13" name="Shape 11"/>
          <p:cNvSpPr/>
          <p:nvPr/>
        </p:nvSpPr>
        <p:spPr>
          <a:xfrm>
            <a:off x="5806440" y="3310128"/>
            <a:ext cx="201168" cy="201168"/>
          </a:xfrm>
          <a:prstGeom prst="ellipse">
            <a:avLst/>
          </a:prstGeom>
          <a:solidFill>
            <a:srgbClr val="B5CBBB"/>
          </a:solidFill>
          <a:ln w="9525">
            <a:solidFill>
              <a:srgbClr val="4F7D5C"/>
            </a:solidFill>
            <a:prstDash val="solid"/>
          </a:ln>
        </p:spPr>
      </p:sp>
      <p:sp>
        <p:nvSpPr>
          <p:cNvPr id="14" name="Text 12"/>
          <p:cNvSpPr txBox="1"/>
          <p:nvPr/>
        </p:nvSpPr>
        <p:spPr>
          <a:xfrm>
            <a:off x="6172200" y="3246120"/>
            <a:ext cx="5425135" cy="365760"/>
          </a:xfrm>
          <a:prstGeom prst="rect">
            <a:avLst/>
          </a:prstGeom>
          <a:noFill/>
          <a:ln/>
        </p:spPr>
        <p:txBody>
          <a:bodyPr wrap="square" lIns="0" tIns="0" rIns="0" bIns="0" rtlCol="0" anchor="t"/>
          <a:lstStyle/>
          <a:p>
            <a:pPr algn="l" indent="0" marL="0">
              <a:buNone/>
            </a:pPr>
            <a:r>
              <a:rPr lang="en-US" sz="1800" dirty="0">
                <a:solidFill>
                  <a:srgbClr val="1C1A17"/>
                </a:solidFill>
                <a:latin typeface="Georgia" pitchFamily="34" charset="0"/>
                <a:ea typeface="Georgia" pitchFamily="34" charset="-122"/>
                <a:cs typeface="Georgia" pitchFamily="34" charset="-120"/>
              </a:rPr>
              <a:t>SAM · Critical-expert departures, US</a:t>
            </a:r>
            <a:endParaRPr lang="en-US" sz="1800" dirty="0"/>
          </a:p>
        </p:txBody>
      </p:sp>
      <p:sp>
        <p:nvSpPr>
          <p:cNvPr id="15" name="Text 13"/>
          <p:cNvSpPr txBox="1"/>
          <p:nvPr/>
        </p:nvSpPr>
        <p:spPr>
          <a:xfrm>
            <a:off x="6172200" y="3657600"/>
            <a:ext cx="5425135" cy="685800"/>
          </a:xfrm>
          <a:prstGeom prst="rect">
            <a:avLst/>
          </a:prstGeom>
          <a:noFill/>
          <a:ln/>
        </p:spPr>
        <p:txBody>
          <a:bodyPr wrap="square" lIns="0" tIns="0" rIns="0" bIns="0" rtlCol="0" anchor="t"/>
          <a:lstStyle/>
          <a:p>
            <a:pPr algn="l" indent="0" marL="0">
              <a:lnSpc>
                <a:spcPct val="120000"/>
              </a:lnSpc>
              <a:buNone/>
            </a:pPr>
            <a:r>
              <a:rPr lang="en-US" sz="1250" dirty="0">
                <a:solidFill>
                  <a:srgbClr val="3B3631"/>
                </a:solidFill>
                <a:latin typeface="Arial" pitchFamily="34" charset="0"/>
                <a:ea typeface="Arial" pitchFamily="34" charset="-122"/>
                <a:cs typeface="Arial" pitchFamily="34" charset="-120"/>
              </a:rPr>
              <a:t>~400k per year in US enterprises (≈10% of ~4M retirements) × $1,500 per capture ≈ $600M a year, in the US alone.</a:t>
            </a:r>
            <a:endParaRPr lang="en-US" sz="1250" dirty="0"/>
          </a:p>
        </p:txBody>
      </p:sp>
      <p:sp>
        <p:nvSpPr>
          <p:cNvPr id="16" name="Shape 14"/>
          <p:cNvSpPr/>
          <p:nvPr/>
        </p:nvSpPr>
        <p:spPr>
          <a:xfrm>
            <a:off x="5806440" y="4636008"/>
            <a:ext cx="201168" cy="201168"/>
          </a:xfrm>
          <a:prstGeom prst="ellipse">
            <a:avLst/>
          </a:prstGeom>
          <a:solidFill>
            <a:srgbClr val="B8541E"/>
          </a:solidFill>
          <a:ln w="9525">
            <a:solidFill>
              <a:srgbClr val="B8541E"/>
            </a:solidFill>
            <a:prstDash val="solid"/>
          </a:ln>
        </p:spPr>
      </p:sp>
      <p:sp>
        <p:nvSpPr>
          <p:cNvPr id="17" name="Text 15"/>
          <p:cNvSpPr txBox="1"/>
          <p:nvPr/>
        </p:nvSpPr>
        <p:spPr>
          <a:xfrm>
            <a:off x="6172200" y="4572000"/>
            <a:ext cx="5425135" cy="365760"/>
          </a:xfrm>
          <a:prstGeom prst="rect">
            <a:avLst/>
          </a:prstGeom>
          <a:noFill/>
          <a:ln/>
        </p:spPr>
        <p:txBody>
          <a:bodyPr wrap="square" lIns="0" tIns="0" rIns="0" bIns="0" rtlCol="0" anchor="t"/>
          <a:lstStyle/>
          <a:p>
            <a:pPr algn="l" indent="0" marL="0">
              <a:buNone/>
            </a:pPr>
            <a:r>
              <a:rPr lang="en-US" sz="1800" dirty="0">
                <a:solidFill>
                  <a:srgbClr val="1C1A17"/>
                </a:solidFill>
                <a:latin typeface="Georgia" pitchFamily="34" charset="0"/>
                <a:ea typeface="Georgia" pitchFamily="34" charset="-122"/>
                <a:cs typeface="Georgia" pitchFamily="34" charset="-120"/>
              </a:rPr>
              <a:t>SOM · Year 3</a:t>
            </a:r>
            <a:endParaRPr lang="en-US" sz="1800" dirty="0"/>
          </a:p>
        </p:txBody>
      </p:sp>
      <p:sp>
        <p:nvSpPr>
          <p:cNvPr id="18" name="Text 16"/>
          <p:cNvSpPr txBox="1"/>
          <p:nvPr/>
        </p:nvSpPr>
        <p:spPr>
          <a:xfrm>
            <a:off x="6172200" y="4983480"/>
            <a:ext cx="5425135" cy="685800"/>
          </a:xfrm>
          <a:prstGeom prst="rect">
            <a:avLst/>
          </a:prstGeom>
          <a:noFill/>
          <a:ln/>
        </p:spPr>
        <p:txBody>
          <a:bodyPr wrap="square" lIns="0" tIns="0" rIns="0" bIns="0" rtlCol="0" anchor="t"/>
          <a:lstStyle/>
          <a:p>
            <a:pPr algn="l" indent="0" marL="0">
              <a:lnSpc>
                <a:spcPct val="120000"/>
              </a:lnSpc>
              <a:buNone/>
            </a:pPr>
            <a:r>
              <a:rPr lang="en-US" sz="1250" dirty="0">
                <a:solidFill>
                  <a:srgbClr val="3B3631"/>
                </a:solidFill>
                <a:latin typeface="Arial" pitchFamily="34" charset="0"/>
                <a:ea typeface="Arial" pitchFamily="34" charset="-122"/>
                <a:cs typeface="Arial" pitchFamily="34" charset="-120"/>
              </a:rPr>
              <a:t>2,000 enterprise captures a month ≈ $36M ARR.</a:t>
            </a:r>
            <a:endParaRPr lang="en-US" sz="1250" dirty="0"/>
          </a:p>
        </p:txBody>
      </p:sp>
      <p:sp>
        <p:nvSpPr>
          <p:cNvPr id="19" name="Text 17"/>
          <p:cNvSpPr txBox="1"/>
          <p:nvPr/>
        </p:nvSpPr>
        <p:spPr>
          <a:xfrm>
            <a:off x="5806440" y="5715000"/>
            <a:ext cx="5790895" cy="457200"/>
          </a:xfrm>
          <a:prstGeom prst="rect">
            <a:avLst/>
          </a:prstGeom>
          <a:noFill/>
          <a:ln/>
        </p:spPr>
        <p:txBody>
          <a:bodyPr wrap="square" lIns="0" tIns="0" rIns="0" bIns="0" rtlCol="0" anchor="t"/>
          <a:lstStyle/>
          <a:p>
            <a:pPr algn="l" indent="0" marL="0">
              <a:lnSpc>
                <a:spcPct val="115000"/>
              </a:lnSpc>
              <a:buNone/>
            </a:pPr>
            <a:r>
              <a:rPr lang="en-US" sz="1000" i="1" dirty="0">
                <a:solidFill>
                  <a:srgbClr val="8A8377"/>
                </a:solidFill>
                <a:latin typeface="Arial" pitchFamily="34" charset="0"/>
                <a:ea typeface="Arial" pitchFamily="34" charset="-122"/>
                <a:cs typeface="Arial" pitchFamily="34" charset="-120"/>
              </a:rPr>
              <a:t>All figures are our estimates. SAM assumes roughly one in ten of ~4M annual US retirements is a critical expert, priced per capture only.</a:t>
            </a:r>
            <a:endParaRPr lang="en-US" sz="1000" dirty="0"/>
          </a:p>
        </p:txBody>
      </p:sp>
      <p:sp>
        <p:nvSpPr>
          <p:cNvPr id="20" name="Text 18"/>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8A8377"/>
                </a:solidFill>
                <a:latin typeface="Georgia" pitchFamily="34" charset="0"/>
                <a:ea typeface="Georgia" pitchFamily="34" charset="-122"/>
                <a:cs typeface="Georgia" pitchFamily="34" charset="-120"/>
              </a:rPr>
              <a:t>Tacit</a:t>
            </a:r>
            <a:endParaRPr lang="en-US" sz="1200" dirty="0"/>
          </a:p>
        </p:txBody>
      </p:sp>
      <p:sp>
        <p:nvSpPr>
          <p:cNvPr id="21" name="Text 19"/>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8A8377"/>
                </a:solidFill>
                <a:latin typeface="Arial" pitchFamily="34" charset="0"/>
                <a:ea typeface="Arial" pitchFamily="34" charset="-122"/>
                <a:cs typeface="Arial" pitchFamily="34" charset="-120"/>
              </a:rPr>
              <a:t>OSS4AI · Build an AI Startup in One Day    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A17"/>
        </a:solidFill>
      </p:bgPr>
    </p:bg>
    <p:spTree>
      <p:nvGrpSpPr>
        <p:cNvPr id="1" name=""/>
        <p:cNvGrpSpPr/>
        <p:nvPr/>
      </p:nvGrpSpPr>
      <p:grpSpPr>
        <a:xfrm>
          <a:off x="0" y="0"/>
          <a:ext cx="0" cy="0"/>
          <a:chOff x="0" y="0"/>
          <a:chExt cx="0" cy="0"/>
        </a:xfrm>
      </p:grpSpPr>
      <p:sp>
        <p:nvSpPr>
          <p:cNvPr id="2" name="Text 0"/>
          <p:cNvSpPr txBox="1"/>
          <p:nvPr/>
        </p:nvSpPr>
        <p:spPr>
          <a:xfrm>
            <a:off x="594360" y="475488"/>
            <a:ext cx="2029968" cy="274320"/>
          </a:xfrm>
          <a:prstGeom prst="roundRect">
            <a:avLst>
              <a:gd name="adj" fmla="val 50000"/>
            </a:avLst>
          </a:prstGeom>
          <a:solidFill>
            <a:srgbClr val="2E2924"/>
          </a:solidFill>
          <a:ln/>
        </p:spPr>
        <p:txBody>
          <a:bodyPr wrap="square" lIns="0" tIns="0" rIns="0" bIns="0" rtlCol="0" anchor="ctr"/>
          <a:lstStyle/>
          <a:p>
            <a:pPr algn="ctr" indent="0" marL="0">
              <a:buNone/>
            </a:pPr>
            <a:r>
              <a:rPr lang="en-US" sz="900" b="1" spc="150" kern="0" dirty="0">
                <a:solidFill>
                  <a:srgbClr val="E8B36B"/>
                </a:solidFill>
                <a:latin typeface="Arial" pitchFamily="34" charset="0"/>
                <a:ea typeface="Arial" pitchFamily="34" charset="-122"/>
                <a:cs typeface="Arial" pitchFamily="34" charset="-120"/>
              </a:rPr>
              <a:t>TRACTION &amp; THE ASK</a:t>
            </a:r>
            <a:endParaRPr lang="en-US" sz="9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algn="l" indent="0" marL="0">
              <a:lnSpc>
                <a:spcPct val="105000"/>
              </a:lnSpc>
              <a:buNone/>
            </a:pPr>
            <a:r>
              <a:rPr lang="en-US" sz="3600" dirty="0">
                <a:solidFill>
                  <a:srgbClr val="F6F1E9"/>
                </a:solidFill>
                <a:latin typeface="Georgia" pitchFamily="34" charset="0"/>
                <a:ea typeface="Georgia" pitchFamily="34" charset="-122"/>
                <a:cs typeface="Georgia" pitchFamily="34" charset="-120"/>
              </a:rPr>
              <a:t>Built in one day, working end to end.</a:t>
            </a:r>
            <a:endParaRPr lang="en-US" sz="3600" dirty="0"/>
          </a:p>
        </p:txBody>
      </p:sp>
      <p:sp>
        <p:nvSpPr>
          <p:cNvPr id="4" name="Shape 2"/>
          <p:cNvSpPr/>
          <p:nvPr/>
        </p:nvSpPr>
        <p:spPr>
          <a:xfrm>
            <a:off x="594360" y="1865376"/>
            <a:ext cx="128016" cy="128016"/>
          </a:xfrm>
          <a:prstGeom prst="ellipse">
            <a:avLst/>
          </a:prstGeom>
          <a:solidFill>
            <a:srgbClr val="E8B36B"/>
          </a:solidFill>
          <a:ln/>
        </p:spPr>
      </p:sp>
      <p:sp>
        <p:nvSpPr>
          <p:cNvPr id="5" name="Text 3"/>
          <p:cNvSpPr txBox="1"/>
          <p:nvPr/>
        </p:nvSpPr>
        <p:spPr>
          <a:xfrm>
            <a:off x="886968" y="1783080"/>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Live demo at vnmoorthy.github.io/tacit</a:t>
            </a:r>
            <a:endParaRPr lang="en-US" sz="1350" dirty="0"/>
          </a:p>
        </p:txBody>
      </p:sp>
      <p:sp>
        <p:nvSpPr>
          <p:cNvPr id="6" name="Shape 4"/>
          <p:cNvSpPr/>
          <p:nvPr/>
        </p:nvSpPr>
        <p:spPr>
          <a:xfrm>
            <a:off x="594360" y="2304288"/>
            <a:ext cx="128016" cy="128016"/>
          </a:xfrm>
          <a:prstGeom prst="ellipse">
            <a:avLst/>
          </a:prstGeom>
          <a:solidFill>
            <a:srgbClr val="E8B36B"/>
          </a:solidFill>
          <a:ln/>
        </p:spPr>
      </p:sp>
      <p:sp>
        <p:nvSpPr>
          <p:cNvPr id="7" name="Text 5"/>
          <p:cNvSpPr txBox="1"/>
          <p:nvPr/>
        </p:nvSpPr>
        <p:spPr>
          <a:xfrm>
            <a:off x="886968" y="2221992"/>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Open source on GitHub, MIT — github.com/vnmoorthy/tacit</a:t>
            </a:r>
            <a:endParaRPr lang="en-US" sz="1350" dirty="0"/>
          </a:p>
        </p:txBody>
      </p:sp>
      <p:sp>
        <p:nvSpPr>
          <p:cNvPr id="8" name="Shape 6"/>
          <p:cNvSpPr/>
          <p:nvPr/>
        </p:nvSpPr>
        <p:spPr>
          <a:xfrm>
            <a:off x="594360" y="2743200"/>
            <a:ext cx="128016" cy="128016"/>
          </a:xfrm>
          <a:prstGeom prst="ellipse">
            <a:avLst/>
          </a:prstGeom>
          <a:solidFill>
            <a:srgbClr val="E8B36B"/>
          </a:solidFill>
          <a:ln/>
        </p:spPr>
      </p:sp>
      <p:sp>
        <p:nvSpPr>
          <p:cNvPr id="9" name="Text 7"/>
          <p:cNvSpPr txBox="1"/>
          <p:nvPr/>
        </p:nvSpPr>
        <p:spPr>
          <a:xfrm>
            <a:off x="886968" y="2660904"/>
            <a:ext cx="5468112" cy="64008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Works with zero keys (offline brain + browser voice), and with Boson + Nebius keys</a:t>
            </a:r>
            <a:endParaRPr lang="en-US" sz="1350" dirty="0"/>
          </a:p>
        </p:txBody>
      </p:sp>
      <p:sp>
        <p:nvSpPr>
          <p:cNvPr id="10" name="Shape 8"/>
          <p:cNvSpPr/>
          <p:nvPr/>
        </p:nvSpPr>
        <p:spPr>
          <a:xfrm>
            <a:off x="594360" y="3401568"/>
            <a:ext cx="128016" cy="128016"/>
          </a:xfrm>
          <a:prstGeom prst="ellipse">
            <a:avLst/>
          </a:prstGeom>
          <a:solidFill>
            <a:srgbClr val="E8B36B"/>
          </a:solidFill>
          <a:ln/>
        </p:spPr>
      </p:sp>
      <p:sp>
        <p:nvSpPr>
          <p:cNvPr id="11" name="Text 9"/>
          <p:cNvSpPr txBox="1"/>
          <p:nvPr/>
        </p:nvSpPr>
        <p:spPr>
          <a:xfrm>
            <a:off x="886968" y="3319272"/>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Voice cloning; phone interviews via Twilio + LiveKit</a:t>
            </a:r>
            <a:endParaRPr lang="en-US" sz="1350" dirty="0"/>
          </a:p>
        </p:txBody>
      </p:sp>
      <p:sp>
        <p:nvSpPr>
          <p:cNvPr id="12" name="Shape 10"/>
          <p:cNvSpPr/>
          <p:nvPr/>
        </p:nvSpPr>
        <p:spPr>
          <a:xfrm>
            <a:off x="594360" y="3840480"/>
            <a:ext cx="128016" cy="128016"/>
          </a:xfrm>
          <a:prstGeom prst="ellipse">
            <a:avLst/>
          </a:prstGeom>
          <a:solidFill>
            <a:srgbClr val="E8B36B"/>
          </a:solidFill>
          <a:ln/>
        </p:spPr>
      </p:sp>
      <p:sp>
        <p:nvSpPr>
          <p:cNvPr id="13" name="Text 11"/>
          <p:cNvSpPr txBox="1"/>
          <p:nvPr/>
        </p:nvSpPr>
        <p:spPr>
          <a:xfrm>
            <a:off x="886968" y="3758184"/>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Two sample captures (a payroll lead and an SRE) with 38 atoms</a:t>
            </a:r>
            <a:endParaRPr lang="en-US" sz="1350" dirty="0"/>
          </a:p>
        </p:txBody>
      </p:sp>
      <p:sp>
        <p:nvSpPr>
          <p:cNvPr id="14" name="Text 12"/>
          <p:cNvSpPr txBox="1"/>
          <p:nvPr/>
        </p:nvSpPr>
        <p:spPr>
          <a:xfrm>
            <a:off x="594360" y="4398264"/>
            <a:ext cx="5760720" cy="256032"/>
          </a:xfrm>
          <a:prstGeom prst="rect">
            <a:avLst/>
          </a:prstGeom>
          <a:noFill/>
          <a:ln/>
        </p:spPr>
        <p:txBody>
          <a:bodyPr wrap="square" lIns="0" tIns="0" rIns="0" bIns="0" rtlCol="0" anchor="t"/>
          <a:lstStyle/>
          <a:p>
            <a:pPr algn="l" indent="0" marL="0">
              <a:buNone/>
            </a:pPr>
            <a:r>
              <a:rPr lang="en-US" sz="1000" b="1" spc="150" kern="0" dirty="0">
                <a:solidFill>
                  <a:srgbClr val="E8B36B"/>
                </a:solidFill>
                <a:latin typeface="Arial" pitchFamily="34" charset="0"/>
                <a:ea typeface="Arial" pitchFamily="34" charset="-122"/>
                <a:cs typeface="Arial" pitchFamily="34" charset="-120"/>
              </a:rPr>
              <a:t>NEXT 30 DAYS</a:t>
            </a:r>
            <a:endParaRPr lang="en-US" sz="1000" dirty="0"/>
          </a:p>
        </p:txBody>
      </p:sp>
      <p:sp>
        <p:nvSpPr>
          <p:cNvPr id="15" name="Shape 13"/>
          <p:cNvSpPr/>
          <p:nvPr/>
        </p:nvSpPr>
        <p:spPr>
          <a:xfrm>
            <a:off x="594360" y="4782312"/>
            <a:ext cx="128016" cy="128016"/>
          </a:xfrm>
          <a:prstGeom prst="ellipse">
            <a:avLst/>
          </a:prstGeom>
          <a:solidFill>
            <a:srgbClr val="7C756A"/>
          </a:solidFill>
          <a:ln/>
        </p:spPr>
      </p:sp>
      <p:sp>
        <p:nvSpPr>
          <p:cNvPr id="16" name="Text 14"/>
          <p:cNvSpPr txBox="1"/>
          <p:nvPr/>
        </p:nvSpPr>
        <p:spPr>
          <a:xfrm>
            <a:off x="886968" y="4700016"/>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Three design partners: one bank, one utility, one manufacturer</a:t>
            </a:r>
            <a:endParaRPr lang="en-US" sz="1350" dirty="0"/>
          </a:p>
        </p:txBody>
      </p:sp>
      <p:sp>
        <p:nvSpPr>
          <p:cNvPr id="17" name="Shape 15"/>
          <p:cNvSpPr/>
          <p:nvPr/>
        </p:nvSpPr>
        <p:spPr>
          <a:xfrm>
            <a:off x="594360" y="5193792"/>
            <a:ext cx="128016" cy="128016"/>
          </a:xfrm>
          <a:prstGeom prst="ellipse">
            <a:avLst/>
          </a:prstGeom>
          <a:solidFill>
            <a:srgbClr val="7C756A"/>
          </a:solidFill>
          <a:ln/>
        </p:spPr>
      </p:sp>
      <p:sp>
        <p:nvSpPr>
          <p:cNvPr id="18" name="Text 16"/>
          <p:cNvSpPr txBox="1"/>
          <p:nvPr/>
        </p:nvSpPr>
        <p:spPr>
          <a:xfrm>
            <a:off x="886968" y="5111496"/>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Inbound phone line for interviews</a:t>
            </a:r>
            <a:endParaRPr lang="en-US" sz="1350" dirty="0"/>
          </a:p>
        </p:txBody>
      </p:sp>
      <p:sp>
        <p:nvSpPr>
          <p:cNvPr id="19" name="Shape 17"/>
          <p:cNvSpPr/>
          <p:nvPr/>
        </p:nvSpPr>
        <p:spPr>
          <a:xfrm>
            <a:off x="594360" y="5605272"/>
            <a:ext cx="128016" cy="128016"/>
          </a:xfrm>
          <a:prstGeom prst="ellipse">
            <a:avLst/>
          </a:prstGeom>
          <a:solidFill>
            <a:srgbClr val="7C756A"/>
          </a:solidFill>
          <a:ln/>
        </p:spPr>
      </p:sp>
      <p:sp>
        <p:nvSpPr>
          <p:cNvPr id="20" name="Text 18"/>
          <p:cNvSpPr txBox="1"/>
          <p:nvPr/>
        </p:nvSpPr>
        <p:spPr>
          <a:xfrm>
            <a:off x="886968" y="5522976"/>
            <a:ext cx="5468112" cy="457200"/>
          </a:xfrm>
          <a:prstGeom prst="rect">
            <a:avLst/>
          </a:prstGeom>
          <a:noFill/>
          <a:ln/>
        </p:spPr>
        <p:txBody>
          <a:bodyPr wrap="square" lIns="0" tIns="0" rIns="0" bIns="0" rtlCol="0" anchor="t"/>
          <a:lstStyle/>
          <a:p>
            <a:pPr algn="l" indent="0" marL="0">
              <a:lnSpc>
                <a:spcPct val="115000"/>
              </a:lnSpc>
              <a:buNone/>
            </a:pPr>
            <a:r>
              <a:rPr lang="en-US" sz="1350" dirty="0">
                <a:solidFill>
                  <a:srgbClr val="F6F1E9"/>
                </a:solidFill>
                <a:latin typeface="Arial" pitchFamily="34" charset="0"/>
                <a:ea typeface="Arial" pitchFamily="34" charset="-122"/>
                <a:cs typeface="Arial" pitchFamily="34" charset="-120"/>
              </a:rPr>
              <a:t>Confluence export</a:t>
            </a:r>
            <a:endParaRPr lang="en-US" sz="1350" dirty="0"/>
          </a:p>
        </p:txBody>
      </p:sp>
      <p:pic>
        <p:nvPicPr>
          <p:cNvPr id="21" name="Image 0" descr="/private/tmp/claude-501/-Users-moorthy-Downloads-Projects-Build-an-AI-Startup-in-One-Day/fc1451a5-f17c-4b0e-9586-ab905c32ce50/scratchpad/deck/overview-header.png">    </p:cNvPr>
          <p:cNvPicPr>
            <a:picLocks noChangeAspect="1"/>
          </p:cNvPicPr>
          <p:nvPr/>
        </p:nvPicPr>
        <p:blipFill>
          <a:blip r:embed="rId1"/>
          <a:stretch>
            <a:fillRect/>
          </a:stretch>
        </p:blipFill>
        <p:spPr>
          <a:xfrm>
            <a:off x="6720840" y="1783080"/>
            <a:ext cx="4876495" cy="1525247"/>
          </a:xfrm>
          <a:prstGeom prst="rect">
            <a:avLst/>
          </a:prstGeom>
        </p:spPr>
      </p:pic>
      <p:sp>
        <p:nvSpPr>
          <p:cNvPr id="22" name="Shape 19"/>
          <p:cNvSpPr/>
          <p:nvPr/>
        </p:nvSpPr>
        <p:spPr>
          <a:xfrm>
            <a:off x="6720840" y="1783080"/>
            <a:ext cx="4876495" cy="1525247"/>
          </a:xfrm>
          <a:prstGeom prst="rect">
            <a:avLst/>
          </a:prstGeom>
          <a:ln w="9525">
            <a:solidFill>
              <a:srgbClr val="3D372F"/>
            </a:solidFill>
            <a:prstDash val="solid"/>
          </a:ln>
        </p:spPr>
      </p:sp>
      <p:sp>
        <p:nvSpPr>
          <p:cNvPr id="23" name="Shape 20"/>
          <p:cNvSpPr/>
          <p:nvPr/>
        </p:nvSpPr>
        <p:spPr>
          <a:xfrm>
            <a:off x="6720840" y="3628367"/>
            <a:ext cx="4876495" cy="1965960"/>
          </a:xfrm>
          <a:prstGeom prst="roundRect">
            <a:avLst>
              <a:gd name="adj" fmla="val 5581"/>
            </a:avLst>
          </a:prstGeom>
          <a:solidFill>
            <a:srgbClr val="E8B36B"/>
          </a:solidFill>
          <a:ln w="9525">
            <a:solidFill>
              <a:srgbClr val="E8B36B"/>
            </a:solidFill>
            <a:prstDash val="solid"/>
          </a:ln>
        </p:spPr>
      </p:sp>
      <p:sp>
        <p:nvSpPr>
          <p:cNvPr id="24" name="Text 21"/>
          <p:cNvSpPr txBox="1"/>
          <p:nvPr/>
        </p:nvSpPr>
        <p:spPr>
          <a:xfrm>
            <a:off x="7040880" y="3884399"/>
            <a:ext cx="4236415" cy="237744"/>
          </a:xfrm>
          <a:prstGeom prst="rect">
            <a:avLst/>
          </a:prstGeom>
          <a:noFill/>
          <a:ln/>
        </p:spPr>
        <p:txBody>
          <a:bodyPr wrap="square" lIns="0" tIns="0" rIns="0" bIns="0" rtlCol="0" anchor="t"/>
          <a:lstStyle/>
          <a:p>
            <a:pPr algn="l" indent="0" marL="0">
              <a:buNone/>
            </a:pPr>
            <a:r>
              <a:rPr lang="en-US" sz="1000" b="1" spc="150" kern="0" dirty="0">
                <a:solidFill>
                  <a:srgbClr val="1C1A17"/>
                </a:solidFill>
                <a:latin typeface="Arial" pitchFamily="34" charset="0"/>
                <a:ea typeface="Arial" pitchFamily="34" charset="-122"/>
                <a:cs typeface="Arial" pitchFamily="34" charset="-120"/>
              </a:rPr>
              <a:t>THE ASK</a:t>
            </a:r>
            <a:endParaRPr lang="en-US" sz="1000" dirty="0"/>
          </a:p>
        </p:txBody>
      </p:sp>
      <p:sp>
        <p:nvSpPr>
          <p:cNvPr id="25" name="Text 22"/>
          <p:cNvSpPr txBox="1"/>
          <p:nvPr/>
        </p:nvSpPr>
        <p:spPr>
          <a:xfrm>
            <a:off x="7040880" y="4177007"/>
            <a:ext cx="4236415" cy="777240"/>
          </a:xfrm>
          <a:prstGeom prst="rect">
            <a:avLst/>
          </a:prstGeom>
          <a:noFill/>
          <a:ln/>
        </p:spPr>
        <p:txBody>
          <a:bodyPr wrap="square" lIns="0" tIns="0" rIns="0" bIns="0" rtlCol="0" anchor="t"/>
          <a:lstStyle/>
          <a:p>
            <a:pPr algn="l" indent="0" marL="0">
              <a:lnSpc>
                <a:spcPct val="110000"/>
              </a:lnSpc>
              <a:buNone/>
            </a:pPr>
            <a:r>
              <a:rPr lang="en-US" sz="2000" dirty="0">
                <a:solidFill>
                  <a:srgbClr val="1C1A17"/>
                </a:solidFill>
                <a:latin typeface="Georgia" pitchFamily="34" charset="0"/>
                <a:ea typeface="Georgia" pitchFamily="34" charset="-122"/>
                <a:cs typeface="Georgia" pitchFamily="34" charset="-120"/>
              </a:rPr>
              <a:t>Introductions to CHROs and COOs facing retirement waves.</a:t>
            </a:r>
            <a:endParaRPr lang="en-US" sz="2000" dirty="0"/>
          </a:p>
        </p:txBody>
      </p:sp>
      <p:sp>
        <p:nvSpPr>
          <p:cNvPr id="26" name="Text 23"/>
          <p:cNvSpPr txBox="1"/>
          <p:nvPr/>
        </p:nvSpPr>
        <p:spPr>
          <a:xfrm>
            <a:off x="7040880" y="4999967"/>
            <a:ext cx="4236415" cy="365760"/>
          </a:xfrm>
          <a:prstGeom prst="rect">
            <a:avLst/>
          </a:prstGeom>
          <a:noFill/>
          <a:ln/>
        </p:spPr>
        <p:txBody>
          <a:bodyPr wrap="square" lIns="0" tIns="0" rIns="0" bIns="0" rtlCol="0" anchor="t"/>
          <a:lstStyle/>
          <a:p>
            <a:pPr algn="l" indent="0" marL="0">
              <a:buNone/>
            </a:pPr>
            <a:r>
              <a:rPr lang="en-US" sz="1350" dirty="0">
                <a:solidFill>
                  <a:srgbClr val="1C1A17"/>
                </a:solidFill>
                <a:latin typeface="Arial" pitchFamily="34" charset="0"/>
                <a:ea typeface="Arial" pitchFamily="34" charset="-122"/>
                <a:cs typeface="Arial" pitchFamily="34" charset="-120"/>
              </a:rPr>
              <a:t>Come talk to Maria’s twin at our table.</a:t>
            </a:r>
            <a:endParaRPr lang="en-US" sz="1350" dirty="0"/>
          </a:p>
        </p:txBody>
      </p:sp>
      <p:sp>
        <p:nvSpPr>
          <p:cNvPr id="27" name="Text 24"/>
          <p:cNvSpPr txBox="1"/>
          <p:nvPr/>
        </p:nvSpPr>
        <p:spPr>
          <a:xfrm>
            <a:off x="6720840" y="5850359"/>
            <a:ext cx="4876495" cy="329184"/>
          </a:xfrm>
          <a:prstGeom prst="rect">
            <a:avLst/>
          </a:prstGeom>
          <a:noFill/>
          <a:ln/>
        </p:spPr>
        <p:txBody>
          <a:bodyPr wrap="square" lIns="0" tIns="0" rIns="0" bIns="0" rtlCol="0" anchor="t"/>
          <a:lstStyle/>
          <a:p>
            <a:pPr algn="l" indent="0" marL="0">
              <a:buNone/>
            </a:pPr>
            <a:r>
              <a:rPr lang="en-US" sz="1600" i="1" dirty="0">
                <a:solidFill>
                  <a:srgbClr val="E8B36B"/>
                </a:solidFill>
                <a:latin typeface="Georgia" pitchFamily="34" charset="0"/>
                <a:ea typeface="Georgia" pitchFamily="34" charset="-122"/>
                <a:cs typeface="Georgia" pitchFamily="34" charset="-120"/>
              </a:rPr>
              <a:t>Institutional memory, captured by conversation.</a:t>
            </a:r>
            <a:endParaRPr lang="en-US" sz="1600" dirty="0"/>
          </a:p>
        </p:txBody>
      </p:sp>
      <p:sp>
        <p:nvSpPr>
          <p:cNvPr id="28" name="Text 25"/>
          <p:cNvSpPr txBox="1"/>
          <p:nvPr/>
        </p:nvSpPr>
        <p:spPr>
          <a:xfrm>
            <a:off x="6720840" y="6197831"/>
            <a:ext cx="4876495" cy="274320"/>
          </a:xfrm>
          <a:prstGeom prst="rect">
            <a:avLst/>
          </a:prstGeom>
          <a:noFill/>
          <a:ln/>
        </p:spPr>
        <p:txBody>
          <a:bodyPr wrap="square" lIns="0" tIns="0" rIns="0" bIns="0" rtlCol="0" anchor="t"/>
          <a:lstStyle/>
          <a:p>
            <a:pPr algn="l" indent="0" marL="0">
              <a:buNone/>
            </a:pPr>
            <a:r>
              <a:rPr lang="en-US" sz="1100" dirty="0">
                <a:solidFill>
                  <a:srgbClr val="D9D2C6"/>
                </a:solidFill>
                <a:latin typeface="Arial" pitchFamily="34" charset="0"/>
                <a:ea typeface="Arial" pitchFamily="34" charset="-122"/>
                <a:cs typeface="Arial" pitchFamily="34" charset="-120"/>
              </a:rPr>
              <a:t>vnmoorthy.github.io/tacit   ·   github.com/vnmoorthy/tacit</a:t>
            </a:r>
            <a:endParaRPr lang="en-US" sz="1100" dirty="0"/>
          </a:p>
        </p:txBody>
      </p:sp>
      <p:sp>
        <p:nvSpPr>
          <p:cNvPr id="29" name="Text 26"/>
          <p:cNvSpPr txBox="1"/>
          <p:nvPr/>
        </p:nvSpPr>
        <p:spPr>
          <a:xfrm>
            <a:off x="594360" y="6446520"/>
            <a:ext cx="1828800" cy="228600"/>
          </a:xfrm>
          <a:prstGeom prst="rect">
            <a:avLst/>
          </a:prstGeom>
          <a:noFill/>
          <a:ln/>
        </p:spPr>
        <p:txBody>
          <a:bodyPr wrap="square" lIns="0" tIns="0" rIns="0" bIns="0" rtlCol="0" anchor="ctr"/>
          <a:lstStyle/>
          <a:p>
            <a:pPr algn="l" indent="0" marL="0">
              <a:buNone/>
            </a:pPr>
            <a:r>
              <a:rPr lang="en-US" sz="1200" dirty="0">
                <a:solidFill>
                  <a:srgbClr val="7C756A"/>
                </a:solidFill>
                <a:latin typeface="Georgia" pitchFamily="34" charset="0"/>
                <a:ea typeface="Georgia" pitchFamily="34" charset="-122"/>
                <a:cs typeface="Georgia" pitchFamily="34" charset="-120"/>
              </a:rPr>
              <a:t>Tacit</a:t>
            </a:r>
            <a:endParaRPr lang="en-US" sz="1200" dirty="0"/>
          </a:p>
        </p:txBody>
      </p:sp>
      <p:sp>
        <p:nvSpPr>
          <p:cNvPr id="30" name="Text 27"/>
          <p:cNvSpPr txBox="1"/>
          <p:nvPr/>
        </p:nvSpPr>
        <p:spPr>
          <a:xfrm>
            <a:off x="6110935" y="6446520"/>
            <a:ext cx="5486400" cy="228600"/>
          </a:xfrm>
          <a:prstGeom prst="rect">
            <a:avLst/>
          </a:prstGeom>
          <a:noFill/>
          <a:ln/>
        </p:spPr>
        <p:txBody>
          <a:bodyPr wrap="square" lIns="0" tIns="0" rIns="0" bIns="0" rtlCol="0" anchor="ctr"/>
          <a:lstStyle/>
          <a:p>
            <a:pPr algn="r" indent="0" marL="0">
              <a:buNone/>
            </a:pPr>
            <a:r>
              <a:rPr lang="en-US" sz="900" dirty="0">
                <a:solidFill>
                  <a:srgbClr val="7C756A"/>
                </a:solidFill>
                <a:latin typeface="Arial" pitchFamily="34" charset="0"/>
                <a:ea typeface="Arial" pitchFamily="34" charset="-122"/>
                <a:cs typeface="Arial" pitchFamily="34" charset="-120"/>
              </a:rPr>
              <a:t>OSS4AI · Build an AI Startup in One Day    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Tacit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Tacit — Institutional memory, captured by conversation</dc:title>
  <dc:subject>PptxGenJS Presentation</dc:subject>
  <dc:creator>Tacit</dc:creator>
  <cp:lastModifiedBy>Tacit</cp:lastModifiedBy>
  <cp:revision>1</cp:revision>
  <dcterms:created xsi:type="dcterms:W3CDTF">2026-09-18T20:18:54Z</dcterms:created>
  <dcterms:modified xsi:type="dcterms:W3CDTF">2026-09-18T20:18:54Z</dcterms:modified>
</cp:coreProperties>
</file>